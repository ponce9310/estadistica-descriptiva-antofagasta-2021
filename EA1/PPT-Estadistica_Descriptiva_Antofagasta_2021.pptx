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2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23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0">
                <a:solidFill>
                  <a:srgbClr val="1B2A4A"/>
                </a:solidFill>
                <a:latin typeface="Calibri"/>
              </a:rPr>
              <a:t>Distribución de matrículas según género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dPt>
            <c:idx val="0"/>
            <c:spPr>
              <a:solidFill>
                <a:srgbClr val="B0512E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2A4A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16088</c:v>
                </c:pt>
                <c:pt idx="1">
                  <c:v>15507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8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89B46"/>
              </a:solidFill>
              <a:effectLst/>
            </c:spPr>
          </c:dPt>
          <c:dPt>
            <c:idx val="1"/>
            <c:bubble3D val="0"/>
            <c:spPr>
              <a:solidFill>
                <a:srgbClr val="3E5C76"/>
              </a:solidFill>
              <a:effectLst/>
            </c:spPr>
          </c:dPt>
          <c:dPt>
            <c:idx val="2"/>
            <c:bubble3D val="0"/>
            <c:spPr>
              <a:solidFill>
                <a:srgbClr val="B0512E"/>
              </a:solidFill>
              <a:effectLst/>
            </c:spPr>
          </c:dPt>
          <c:dPt>
            <c:idx val="3"/>
            <c:bubble3D val="0"/>
            <c:spPr>
              <a:solidFill>
                <a:srgbClr val="1B2A4A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Centros Form. Técnica</c:v>
                </c:pt>
                <c:pt idx="1">
                  <c:v>Institutos Profesionales</c:v>
                </c:pt>
                <c:pt idx="2">
                  <c:v>Universidades CRUCH</c:v>
                </c:pt>
                <c:pt idx="3">
                  <c:v>Universidades Privadas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4206</c:v>
                </c:pt>
                <c:pt idx="1">
                  <c:v>10073</c:v>
                </c:pt>
                <c:pt idx="2">
                  <c:v>12769</c:v>
                </c:pt>
                <c:pt idx="3">
                  <c:v>4547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27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B05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Tecnología</c:v>
                  </c:pt>
                  <c:pt idx="1">
                    <c:v>Adm. y Comercio</c:v>
                  </c:pt>
                  <c:pt idx="2">
                    <c:v>Salud</c:v>
                  </c:pt>
                  <c:pt idx="3">
                    <c:v>Educación</c:v>
                  </c:pt>
                  <c:pt idx="4">
                    <c:v>C. Sociales</c:v>
                  </c:pt>
                  <c:pt idx="5">
                    <c:v>Derecho</c:v>
                  </c:pt>
                  <c:pt idx="6">
                    <c:v>Arte y Arq.</c:v>
                  </c:pt>
                  <c:pt idx="7">
                    <c:v>C. Básicas</c:v>
                  </c:pt>
                  <c:pt idx="8">
                    <c:v>Humanidades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11586</c:v>
                </c:pt>
                <c:pt idx="1">
                  <c:v>5669</c:v>
                </c:pt>
                <c:pt idx="2">
                  <c:v>5620</c:v>
                </c:pt>
                <c:pt idx="3">
                  <c:v>2899</c:v>
                </c:pt>
                <c:pt idx="4">
                  <c:v>2448</c:v>
                </c:pt>
                <c:pt idx="5">
                  <c:v>1300</c:v>
                </c:pt>
                <c:pt idx="6">
                  <c:v>1034</c:v>
                </c:pt>
                <c:pt idx="7">
                  <c:v>971</c:v>
                </c:pt>
                <c:pt idx="8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Calibri"/>
              </a:rPr>
              <a:t>Distribución de la edad por intervalos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B05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Sheet1!$A$2:$A$13</c:f>
              <c:strCache>
                <c:ptCount val="12"/>
                <c:pt idx="0">
                  <c:v>15-19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  <c:pt idx="10">
                  <c:v>65-69</c:v>
                </c:pt>
                <c:pt idx="11">
                  <c:v>70-74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5156</c:v>
                </c:pt>
                <c:pt idx="1">
                  <c:v>14485</c:v>
                </c:pt>
                <c:pt idx="2">
                  <c:v>6018</c:v>
                </c:pt>
                <c:pt idx="3">
                  <c:v>2870</c:v>
                </c:pt>
                <c:pt idx="4">
                  <c:v>1537</c:v>
                </c:pt>
                <c:pt idx="5">
                  <c:v>732</c:v>
                </c:pt>
                <c:pt idx="6">
                  <c:v>493</c:v>
                </c:pt>
                <c:pt idx="7">
                  <c:v>200</c:v>
                </c:pt>
                <c:pt idx="8">
                  <c:v>74</c:v>
                </c:pt>
                <c:pt idx="9">
                  <c:v>23</c:v>
                </c:pt>
                <c:pt idx="10">
                  <c:v>3</c:v>
                </c:pt>
                <c:pt idx="1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Calibri"/>
              </a:rPr>
              <a:t>Distribución del valor de matrícula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B05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0-36k</c:v>
                  </c:pt>
                  <c:pt idx="1">
                    <c:v>36-71k</c:v>
                  </c:pt>
                  <c:pt idx="2">
                    <c:v>71-107k</c:v>
                  </c:pt>
                  <c:pt idx="3">
                    <c:v>107-143k</c:v>
                  </c:pt>
                  <c:pt idx="4">
                    <c:v>143-178k</c:v>
                  </c:pt>
                  <c:pt idx="5">
                    <c:v>178-214k</c:v>
                  </c:pt>
                  <c:pt idx="6">
                    <c:v>214-249k</c:v>
                  </c:pt>
                  <c:pt idx="7">
                    <c:v>249-285k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361</c:v>
                </c:pt>
                <c:pt idx="1">
                  <c:v>1683</c:v>
                </c:pt>
                <c:pt idx="2">
                  <c:v>1284</c:v>
                </c:pt>
                <c:pt idx="3">
                  <c:v>9462</c:v>
                </c:pt>
                <c:pt idx="4">
                  <c:v>7082</c:v>
                </c:pt>
                <c:pt idx="5">
                  <c:v>5556</c:v>
                </c:pt>
                <c:pt idx="6">
                  <c:v>5961</c:v>
                </c:pt>
                <c:pt idx="7">
                  <c:v>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Calibri"/>
              </a:rPr>
              <a:t>Distribución del valor de arancel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B05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0-1M</c:v>
                </c:pt>
                <c:pt idx="1">
                  <c:v>1-2M</c:v>
                </c:pt>
                <c:pt idx="2">
                  <c:v>2-3M</c:v>
                </c:pt>
                <c:pt idx="3">
                  <c:v>3-4M</c:v>
                </c:pt>
                <c:pt idx="4">
                  <c:v>4-5M</c:v>
                </c:pt>
                <c:pt idx="5">
                  <c:v>5-6M</c:v>
                </c:pt>
                <c:pt idx="6">
                  <c:v>6-7M</c:v>
                </c:pt>
                <c:pt idx="7">
                  <c:v>7-8M</c:v>
                </c:pt>
                <c:pt idx="8">
                  <c:v>8-9M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64</c:v>
                </c:pt>
                <c:pt idx="1">
                  <c:v>8500</c:v>
                </c:pt>
                <c:pt idx="2">
                  <c:v>10557</c:v>
                </c:pt>
                <c:pt idx="3">
                  <c:v>8407</c:v>
                </c:pt>
                <c:pt idx="4">
                  <c:v>3407</c:v>
                </c:pt>
                <c:pt idx="5">
                  <c:v>651</c:v>
                </c:pt>
                <c:pt idx="6">
                  <c:v>0</c:v>
                </c:pt>
                <c:pt idx="7">
                  <c:v>0</c:v>
                </c:pt>
                <c:pt idx="8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Calibri"/>
              </a:rPr>
              <a:t>Distribución de la duración total (semestres)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B05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201</c:v>
                </c:pt>
                <c:pt idx="2">
                  <c:v>52</c:v>
                </c:pt>
                <c:pt idx="3">
                  <c:v>2790</c:v>
                </c:pt>
                <c:pt idx="4">
                  <c:v>7205</c:v>
                </c:pt>
                <c:pt idx="5">
                  <c:v>63</c:v>
                </c:pt>
                <c:pt idx="6">
                  <c:v>8</c:v>
                </c:pt>
                <c:pt idx="7">
                  <c:v>7927</c:v>
                </c:pt>
                <c:pt idx="8">
                  <c:v>1005</c:v>
                </c:pt>
                <c:pt idx="9">
                  <c:v>10596</c:v>
                </c:pt>
                <c:pt idx="10">
                  <c:v>177</c:v>
                </c:pt>
                <c:pt idx="11">
                  <c:v>1237</c:v>
                </c:pt>
                <c:pt idx="12">
                  <c:v>0</c:v>
                </c:pt>
                <c:pt idx="13">
                  <c:v>332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Arancel promedio por carrera</c:v>
                </c:pt>
              </c:strCache>
            </c:strRef>
          </c:tx>
          <c:spPr>
            <a:solidFill>
              <a:srgbClr val="B0512E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51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51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51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51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cat>
            <c:strRef>
              <c:f>Sheet1!$A$2:$A$10</c:f>
              <c:strCache>
                <c:ptCount val="9"/>
                <c:pt idx="0">
                  <c:v>C. Básicas</c:v>
                </c:pt>
                <c:pt idx="1">
                  <c:v>Derecho</c:v>
                </c:pt>
                <c:pt idx="2">
                  <c:v>Salud</c:v>
                </c:pt>
                <c:pt idx="3">
                  <c:v>Tecnología</c:v>
                </c:pt>
                <c:pt idx="4">
                  <c:v>Arte y Arq.</c:v>
                </c:pt>
                <c:pt idx="5">
                  <c:v>C. Sociales</c:v>
                </c:pt>
                <c:pt idx="6">
                  <c:v>Adm. y Com.</c:v>
                </c:pt>
                <c:pt idx="7">
                  <c:v>Educación</c:v>
                </c:pt>
                <c:pt idx="8">
                  <c:v>Humanidades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3289947</c:v>
                </c:pt>
                <c:pt idx="1">
                  <c:v>2942766</c:v>
                </c:pt>
                <c:pt idx="2">
                  <c:v>2722862</c:v>
                </c:pt>
                <c:pt idx="3">
                  <c:v>2354266</c:v>
                </c:pt>
                <c:pt idx="4">
                  <c:v>2299846</c:v>
                </c:pt>
                <c:pt idx="5">
                  <c:v>2264427</c:v>
                </c:pt>
                <c:pt idx="6">
                  <c:v>2034664</c:v>
                </c:pt>
                <c:pt idx="7">
                  <c:v>1918151</c:v>
                </c:pt>
                <c:pt idx="8">
                  <c:v>1713250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90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Edad promedio al ingresar</c:v>
                </c:pt>
              </c:strCache>
            </c:strRef>
          </c:tx>
          <c:spPr>
            <a:solidFill>
              <a:srgbClr val="B051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Universidades
CRUCH</c:v>
                </c:pt>
                <c:pt idx="1">
                  <c:v>Centros Form.
Técnica</c:v>
                </c:pt>
                <c:pt idx="2">
                  <c:v>Institutos
Profesionales</c:v>
                </c:pt>
                <c:pt idx="3">
                  <c:v>Universidades
Privadas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21.8</c:v>
                </c:pt>
                <c:pt idx="1">
                  <c:v>24.7</c:v>
                </c:pt>
                <c:pt idx="2">
                  <c:v>25.8</c:v>
                </c:pt>
                <c:pt idx="3">
                  <c:v>26.9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Edad mediana al ingresar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Universidades
CRUCH</c:v>
                </c:pt>
                <c:pt idx="1">
                  <c:v>Centros Form.
Técnica</c:v>
                </c:pt>
                <c:pt idx="2">
                  <c:v>Institutos
Profesionales</c:v>
                </c:pt>
                <c:pt idx="3">
                  <c:v>Universidades
Privadas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19.0</c:v>
                </c:pt>
                <c:pt idx="1">
                  <c:v>22.0</c:v>
                </c:pt>
                <c:pt idx="2">
                  <c:v>23.0</c:v>
                </c:pt>
                <c:pt idx="3">
                  <c:v>24.0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27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50" b="0">
                <a:solidFill>
                  <a:srgbClr val="1B2A4A"/>
                </a:solidFill>
                <a:latin typeface="Calibri"/>
              </a:rPr>
              <a:t>Arancel anual vs duración total, por carrera (r = 0,69)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0512E"/>
              </a:solidFill>
              <a:ln w="6350">
                <a:solidFill>
                  <a:srgbClr val="FFFFFF"/>
                </a:solidFill>
              </a:ln>
            </c:spPr>
          </c:marker>
          <c:xVal>
            <c:numRef>
              <c:f>Sheet1!$A$2:$A$187</c:f>
              <c:numCache>
                <c:formatCode>General</c:formatCode>
                <c:ptCount val="186"/>
                <c:pt idx="0">
                  <c:v>5.0</c:v>
                </c:pt>
                <c:pt idx="1">
                  <c:v>5.0</c:v>
                </c:pt>
                <c:pt idx="2">
                  <c:v>5.0</c:v>
                </c:pt>
                <c:pt idx="3">
                  <c:v>8.0</c:v>
                </c:pt>
                <c:pt idx="4">
                  <c:v>5.0</c:v>
                </c:pt>
                <c:pt idx="5">
                  <c:v>8.0</c:v>
                </c:pt>
                <c:pt idx="6">
                  <c:v>8.0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5.0</c:v>
                </c:pt>
                <c:pt idx="11">
                  <c:v>5.0</c:v>
                </c:pt>
                <c:pt idx="12">
                  <c:v>5.0</c:v>
                </c:pt>
                <c:pt idx="13">
                  <c:v>5.0</c:v>
                </c:pt>
                <c:pt idx="14">
                  <c:v>8.0</c:v>
                </c:pt>
                <c:pt idx="15">
                  <c:v>5.0</c:v>
                </c:pt>
                <c:pt idx="16">
                  <c:v>5.0</c:v>
                </c:pt>
                <c:pt idx="17">
                  <c:v>8.0</c:v>
                </c:pt>
                <c:pt idx="18">
                  <c:v>8.0</c:v>
                </c:pt>
                <c:pt idx="19">
                  <c:v>8.0</c:v>
                </c:pt>
                <c:pt idx="20">
                  <c:v>8.0</c:v>
                </c:pt>
                <c:pt idx="21">
                  <c:v>8.0</c:v>
                </c:pt>
                <c:pt idx="22">
                  <c:v>8.0</c:v>
                </c:pt>
                <c:pt idx="23">
                  <c:v>8.0</c:v>
                </c:pt>
                <c:pt idx="24">
                  <c:v>8.0</c:v>
                </c:pt>
                <c:pt idx="25">
                  <c:v>8.0</c:v>
                </c:pt>
                <c:pt idx="26">
                  <c:v>8.0</c:v>
                </c:pt>
                <c:pt idx="27">
                  <c:v>8.0</c:v>
                </c:pt>
                <c:pt idx="28">
                  <c:v>8.0</c:v>
                </c:pt>
                <c:pt idx="29">
                  <c:v>5.0</c:v>
                </c:pt>
                <c:pt idx="30">
                  <c:v>5.0</c:v>
                </c:pt>
                <c:pt idx="31">
                  <c:v>5.0</c:v>
                </c:pt>
                <c:pt idx="32">
                  <c:v>5.0</c:v>
                </c:pt>
                <c:pt idx="33">
                  <c:v>5.0</c:v>
                </c:pt>
                <c:pt idx="34">
                  <c:v>5.0</c:v>
                </c:pt>
                <c:pt idx="35">
                  <c:v>8.0</c:v>
                </c:pt>
                <c:pt idx="36">
                  <c:v>8.0</c:v>
                </c:pt>
                <c:pt idx="37">
                  <c:v>8.0</c:v>
                </c:pt>
                <c:pt idx="38">
                  <c:v>8.0</c:v>
                </c:pt>
                <c:pt idx="39">
                  <c:v>8.0</c:v>
                </c:pt>
                <c:pt idx="40">
                  <c:v>5.0</c:v>
                </c:pt>
                <c:pt idx="41">
                  <c:v>5.0</c:v>
                </c:pt>
                <c:pt idx="42">
                  <c:v>5.0</c:v>
                </c:pt>
                <c:pt idx="43">
                  <c:v>5.0</c:v>
                </c:pt>
                <c:pt idx="44">
                  <c:v>5.0</c:v>
                </c:pt>
                <c:pt idx="45">
                  <c:v>5.0</c:v>
                </c:pt>
                <c:pt idx="46">
                  <c:v>5.0</c:v>
                </c:pt>
                <c:pt idx="47">
                  <c:v>5.0</c:v>
                </c:pt>
                <c:pt idx="48">
                  <c:v>5.0</c:v>
                </c:pt>
                <c:pt idx="49">
                  <c:v>5.0</c:v>
                </c:pt>
                <c:pt idx="50">
                  <c:v>5.0</c:v>
                </c:pt>
                <c:pt idx="51">
                  <c:v>5.0</c:v>
                </c:pt>
                <c:pt idx="52">
                  <c:v>5.0</c:v>
                </c:pt>
                <c:pt idx="53">
                  <c:v>5.0</c:v>
                </c:pt>
                <c:pt idx="54">
                  <c:v>5.0</c:v>
                </c:pt>
                <c:pt idx="55">
                  <c:v>5.0</c:v>
                </c:pt>
                <c:pt idx="56">
                  <c:v>5.0</c:v>
                </c:pt>
                <c:pt idx="57">
                  <c:v>5.0</c:v>
                </c:pt>
                <c:pt idx="58">
                  <c:v>5.0</c:v>
                </c:pt>
                <c:pt idx="59">
                  <c:v>5.0</c:v>
                </c:pt>
                <c:pt idx="60">
                  <c:v>5.0</c:v>
                </c:pt>
                <c:pt idx="61">
                  <c:v>5.0</c:v>
                </c:pt>
                <c:pt idx="62">
                  <c:v>5.0</c:v>
                </c:pt>
                <c:pt idx="63">
                  <c:v>5.0</c:v>
                </c:pt>
                <c:pt idx="64">
                  <c:v>4.71</c:v>
                </c:pt>
                <c:pt idx="65">
                  <c:v>5.0</c:v>
                </c:pt>
                <c:pt idx="66">
                  <c:v>5.0</c:v>
                </c:pt>
                <c:pt idx="67">
                  <c:v>5.0</c:v>
                </c:pt>
                <c:pt idx="68">
                  <c:v>5.0</c:v>
                </c:pt>
                <c:pt idx="69">
                  <c:v>5.0</c:v>
                </c:pt>
                <c:pt idx="70">
                  <c:v>5.0</c:v>
                </c:pt>
                <c:pt idx="71">
                  <c:v>5.0</c:v>
                </c:pt>
                <c:pt idx="72">
                  <c:v>5.0</c:v>
                </c:pt>
                <c:pt idx="73">
                  <c:v>5.0</c:v>
                </c:pt>
                <c:pt idx="74">
                  <c:v>5.0</c:v>
                </c:pt>
                <c:pt idx="75">
                  <c:v>5.0</c:v>
                </c:pt>
                <c:pt idx="76">
                  <c:v>5.0</c:v>
                </c:pt>
                <c:pt idx="77">
                  <c:v>5.0</c:v>
                </c:pt>
                <c:pt idx="78">
                  <c:v>4.0</c:v>
                </c:pt>
                <c:pt idx="79">
                  <c:v>5.0</c:v>
                </c:pt>
                <c:pt idx="80">
                  <c:v>5.0</c:v>
                </c:pt>
                <c:pt idx="81">
                  <c:v>5.0</c:v>
                </c:pt>
                <c:pt idx="82">
                  <c:v>5.0</c:v>
                </c:pt>
                <c:pt idx="83">
                  <c:v>5.0</c:v>
                </c:pt>
                <c:pt idx="84">
                  <c:v>5.0</c:v>
                </c:pt>
                <c:pt idx="85">
                  <c:v>5.0</c:v>
                </c:pt>
                <c:pt idx="86">
                  <c:v>5.0</c:v>
                </c:pt>
                <c:pt idx="87">
                  <c:v>5.0</c:v>
                </c:pt>
                <c:pt idx="88">
                  <c:v>4.76</c:v>
                </c:pt>
                <c:pt idx="89">
                  <c:v>5.0</c:v>
                </c:pt>
                <c:pt idx="90">
                  <c:v>5.0</c:v>
                </c:pt>
                <c:pt idx="91">
                  <c:v>4.7</c:v>
                </c:pt>
                <c:pt idx="92">
                  <c:v>4.75</c:v>
                </c:pt>
                <c:pt idx="93">
                  <c:v>4.45</c:v>
                </c:pt>
                <c:pt idx="94">
                  <c:v>4.66</c:v>
                </c:pt>
                <c:pt idx="95">
                  <c:v>4.85</c:v>
                </c:pt>
                <c:pt idx="96">
                  <c:v>5.0</c:v>
                </c:pt>
                <c:pt idx="97">
                  <c:v>5.0</c:v>
                </c:pt>
                <c:pt idx="98">
                  <c:v>5.0</c:v>
                </c:pt>
                <c:pt idx="99">
                  <c:v>5.0</c:v>
                </c:pt>
                <c:pt idx="100">
                  <c:v>5.0</c:v>
                </c:pt>
                <c:pt idx="101">
                  <c:v>5.0</c:v>
                </c:pt>
                <c:pt idx="102">
                  <c:v>5.0</c:v>
                </c:pt>
                <c:pt idx="103">
                  <c:v>5.0</c:v>
                </c:pt>
                <c:pt idx="104">
                  <c:v>5.0</c:v>
                </c:pt>
                <c:pt idx="105">
                  <c:v>5.0</c:v>
                </c:pt>
                <c:pt idx="106">
                  <c:v>5.0</c:v>
                </c:pt>
                <c:pt idx="107">
                  <c:v>5.0</c:v>
                </c:pt>
                <c:pt idx="108">
                  <c:v>5.0</c:v>
                </c:pt>
                <c:pt idx="109">
                  <c:v>8.0</c:v>
                </c:pt>
                <c:pt idx="110">
                  <c:v>8.0</c:v>
                </c:pt>
                <c:pt idx="111">
                  <c:v>8.0</c:v>
                </c:pt>
                <c:pt idx="112">
                  <c:v>8.0</c:v>
                </c:pt>
                <c:pt idx="113">
                  <c:v>8.0</c:v>
                </c:pt>
                <c:pt idx="114">
                  <c:v>8.0</c:v>
                </c:pt>
                <c:pt idx="115">
                  <c:v>8.0</c:v>
                </c:pt>
                <c:pt idx="116">
                  <c:v>8.0</c:v>
                </c:pt>
                <c:pt idx="117">
                  <c:v>8.0</c:v>
                </c:pt>
                <c:pt idx="118">
                  <c:v>8.0</c:v>
                </c:pt>
                <c:pt idx="119">
                  <c:v>8.0</c:v>
                </c:pt>
                <c:pt idx="120">
                  <c:v>8.0</c:v>
                </c:pt>
                <c:pt idx="121">
                  <c:v>8.0</c:v>
                </c:pt>
                <c:pt idx="122">
                  <c:v>8.0</c:v>
                </c:pt>
                <c:pt idx="123">
                  <c:v>8.0</c:v>
                </c:pt>
                <c:pt idx="124">
                  <c:v>8.0</c:v>
                </c:pt>
                <c:pt idx="125">
                  <c:v>8.0</c:v>
                </c:pt>
                <c:pt idx="126">
                  <c:v>8.0</c:v>
                </c:pt>
                <c:pt idx="127">
                  <c:v>8.0</c:v>
                </c:pt>
                <c:pt idx="128">
                  <c:v>8.0</c:v>
                </c:pt>
                <c:pt idx="129">
                  <c:v>8.0</c:v>
                </c:pt>
                <c:pt idx="130">
                  <c:v>8.0</c:v>
                </c:pt>
                <c:pt idx="131">
                  <c:v>8.0</c:v>
                </c:pt>
                <c:pt idx="132">
                  <c:v>8.0</c:v>
                </c:pt>
                <c:pt idx="133">
                  <c:v>8.0</c:v>
                </c:pt>
                <c:pt idx="134">
                  <c:v>8.0</c:v>
                </c:pt>
                <c:pt idx="135">
                  <c:v>8.0</c:v>
                </c:pt>
                <c:pt idx="136">
                  <c:v>8.0</c:v>
                </c:pt>
                <c:pt idx="137">
                  <c:v>8.0</c:v>
                </c:pt>
                <c:pt idx="138">
                  <c:v>8.0</c:v>
                </c:pt>
                <c:pt idx="139">
                  <c:v>8.0</c:v>
                </c:pt>
                <c:pt idx="140">
                  <c:v>8.0</c:v>
                </c:pt>
                <c:pt idx="141">
                  <c:v>8.0</c:v>
                </c:pt>
                <c:pt idx="142">
                  <c:v>8.0</c:v>
                </c:pt>
                <c:pt idx="143">
                  <c:v>8.0</c:v>
                </c:pt>
                <c:pt idx="144">
                  <c:v>8.0</c:v>
                </c:pt>
                <c:pt idx="145">
                  <c:v>8.0</c:v>
                </c:pt>
                <c:pt idx="146">
                  <c:v>8.0</c:v>
                </c:pt>
                <c:pt idx="147">
                  <c:v>8.0</c:v>
                </c:pt>
                <c:pt idx="148">
                  <c:v>8.0</c:v>
                </c:pt>
                <c:pt idx="149">
                  <c:v>8.0</c:v>
                </c:pt>
                <c:pt idx="150">
                  <c:v>8.0</c:v>
                </c:pt>
                <c:pt idx="151">
                  <c:v>8.0</c:v>
                </c:pt>
                <c:pt idx="152">
                  <c:v>5.0</c:v>
                </c:pt>
                <c:pt idx="153">
                  <c:v>5.0</c:v>
                </c:pt>
                <c:pt idx="154">
                  <c:v>5.0</c:v>
                </c:pt>
                <c:pt idx="155">
                  <c:v>5.0</c:v>
                </c:pt>
                <c:pt idx="156">
                  <c:v>5.0</c:v>
                </c:pt>
                <c:pt idx="157">
                  <c:v>5.0</c:v>
                </c:pt>
                <c:pt idx="158">
                  <c:v>5.0</c:v>
                </c:pt>
                <c:pt idx="159">
                  <c:v>5.0</c:v>
                </c:pt>
                <c:pt idx="160">
                  <c:v>5.0</c:v>
                </c:pt>
                <c:pt idx="161">
                  <c:v>8.0</c:v>
                </c:pt>
                <c:pt idx="162">
                  <c:v>7.77</c:v>
                </c:pt>
                <c:pt idx="163">
                  <c:v>6.92</c:v>
                </c:pt>
                <c:pt idx="164">
                  <c:v>4.0</c:v>
                </c:pt>
                <c:pt idx="165">
                  <c:v>8.0</c:v>
                </c:pt>
                <c:pt idx="166">
                  <c:v>8.0</c:v>
                </c:pt>
                <c:pt idx="167">
                  <c:v>8.0</c:v>
                </c:pt>
                <c:pt idx="168">
                  <c:v>7.25</c:v>
                </c:pt>
                <c:pt idx="169">
                  <c:v>8.0</c:v>
                </c:pt>
                <c:pt idx="170">
                  <c:v>7.27</c:v>
                </c:pt>
                <c:pt idx="171">
                  <c:v>7.04</c:v>
                </c:pt>
                <c:pt idx="172">
                  <c:v>8.0</c:v>
                </c:pt>
                <c:pt idx="173">
                  <c:v>4.0</c:v>
                </c:pt>
                <c:pt idx="174">
                  <c:v>7.25</c:v>
                </c:pt>
                <c:pt idx="175">
                  <c:v>8.0</c:v>
                </c:pt>
                <c:pt idx="176">
                  <c:v>4.0</c:v>
                </c:pt>
                <c:pt idx="177">
                  <c:v>8.0</c:v>
                </c:pt>
                <c:pt idx="178">
                  <c:v>7.96</c:v>
                </c:pt>
                <c:pt idx="179">
                  <c:v>7.91</c:v>
                </c:pt>
                <c:pt idx="180">
                  <c:v>5.0</c:v>
                </c:pt>
                <c:pt idx="181">
                  <c:v>5.0</c:v>
                </c:pt>
                <c:pt idx="182">
                  <c:v>5.0</c:v>
                </c:pt>
                <c:pt idx="183">
                  <c:v>5.0</c:v>
                </c:pt>
                <c:pt idx="184">
                  <c:v>5.0</c:v>
                </c:pt>
                <c:pt idx="185">
                  <c:v>5.0</c:v>
                </c:pt>
              </c:numCache>
            </c:numRef>
          </c:xVal>
          <c:yVal>
            <c:numRef>
              <c:f>Sheet1!$B$2:$B$187</c:f>
              <c:numCache>
                <c:formatCode>General</c:formatCode>
                <c:ptCount val="186"/>
                <c:pt idx="0">
                  <c:v>1670000</c:v>
                </c:pt>
                <c:pt idx="1">
                  <c:v>1670000</c:v>
                </c:pt>
                <c:pt idx="2">
                  <c:v>1680000</c:v>
                </c:pt>
                <c:pt idx="3">
                  <c:v>1690000</c:v>
                </c:pt>
                <c:pt idx="4">
                  <c:v>1600000</c:v>
                </c:pt>
                <c:pt idx="5">
                  <c:v>1700000</c:v>
                </c:pt>
                <c:pt idx="6">
                  <c:v>1700000</c:v>
                </c:pt>
                <c:pt idx="7">
                  <c:v>1690000</c:v>
                </c:pt>
                <c:pt idx="8">
                  <c:v>1780000</c:v>
                </c:pt>
                <c:pt idx="9">
                  <c:v>1890000</c:v>
                </c:pt>
                <c:pt idx="10">
                  <c:v>1890000</c:v>
                </c:pt>
                <c:pt idx="11">
                  <c:v>1700000</c:v>
                </c:pt>
                <c:pt idx="12">
                  <c:v>1700000</c:v>
                </c:pt>
                <c:pt idx="13">
                  <c:v>1620000</c:v>
                </c:pt>
                <c:pt idx="14">
                  <c:v>1840000</c:v>
                </c:pt>
                <c:pt idx="15">
                  <c:v>1850000</c:v>
                </c:pt>
                <c:pt idx="16">
                  <c:v>1850000</c:v>
                </c:pt>
                <c:pt idx="17">
                  <c:v>1860000</c:v>
                </c:pt>
                <c:pt idx="18">
                  <c:v>1845522</c:v>
                </c:pt>
                <c:pt idx="19">
                  <c:v>1860000</c:v>
                </c:pt>
                <c:pt idx="20">
                  <c:v>1780000</c:v>
                </c:pt>
                <c:pt idx="21">
                  <c:v>1860000</c:v>
                </c:pt>
                <c:pt idx="22">
                  <c:v>1780000</c:v>
                </c:pt>
                <c:pt idx="23">
                  <c:v>1870000</c:v>
                </c:pt>
                <c:pt idx="24">
                  <c:v>1840000</c:v>
                </c:pt>
                <c:pt idx="25">
                  <c:v>1940000</c:v>
                </c:pt>
                <c:pt idx="26">
                  <c:v>1840000</c:v>
                </c:pt>
                <c:pt idx="27">
                  <c:v>1730000</c:v>
                </c:pt>
                <c:pt idx="28">
                  <c:v>1760000</c:v>
                </c:pt>
                <c:pt idx="29">
                  <c:v>1840000</c:v>
                </c:pt>
                <c:pt idx="30">
                  <c:v>1700000</c:v>
                </c:pt>
                <c:pt idx="31">
                  <c:v>1700000</c:v>
                </c:pt>
                <c:pt idx="32">
                  <c:v>1700000</c:v>
                </c:pt>
                <c:pt idx="33">
                  <c:v>1730000</c:v>
                </c:pt>
                <c:pt idx="34">
                  <c:v>1760000</c:v>
                </c:pt>
                <c:pt idx="35">
                  <c:v>1690000</c:v>
                </c:pt>
                <c:pt idx="36">
                  <c:v>1690000</c:v>
                </c:pt>
                <c:pt idx="37">
                  <c:v>1690000</c:v>
                </c:pt>
                <c:pt idx="38">
                  <c:v>1690000</c:v>
                </c:pt>
                <c:pt idx="39">
                  <c:v>1600000</c:v>
                </c:pt>
                <c:pt idx="40">
                  <c:v>1630000</c:v>
                </c:pt>
                <c:pt idx="41">
                  <c:v>1630000</c:v>
                </c:pt>
                <c:pt idx="42">
                  <c:v>1660000</c:v>
                </c:pt>
                <c:pt idx="43">
                  <c:v>1700000</c:v>
                </c:pt>
                <c:pt idx="44">
                  <c:v>1860000</c:v>
                </c:pt>
                <c:pt idx="45">
                  <c:v>1860000</c:v>
                </c:pt>
                <c:pt idx="46">
                  <c:v>1780000</c:v>
                </c:pt>
                <c:pt idx="47">
                  <c:v>1780000</c:v>
                </c:pt>
                <c:pt idx="48">
                  <c:v>1780000</c:v>
                </c:pt>
                <c:pt idx="49">
                  <c:v>1860000</c:v>
                </c:pt>
                <c:pt idx="50">
                  <c:v>1780000</c:v>
                </c:pt>
                <c:pt idx="51">
                  <c:v>1870000</c:v>
                </c:pt>
                <c:pt idx="52">
                  <c:v>1780000</c:v>
                </c:pt>
                <c:pt idx="53">
                  <c:v>1860000</c:v>
                </c:pt>
                <c:pt idx="54">
                  <c:v>1860000</c:v>
                </c:pt>
                <c:pt idx="55">
                  <c:v>1860000</c:v>
                </c:pt>
                <c:pt idx="56">
                  <c:v>1780000</c:v>
                </c:pt>
                <c:pt idx="57">
                  <c:v>1780000</c:v>
                </c:pt>
                <c:pt idx="58">
                  <c:v>1780000</c:v>
                </c:pt>
                <c:pt idx="59">
                  <c:v>1660000</c:v>
                </c:pt>
                <c:pt idx="60">
                  <c:v>1700000</c:v>
                </c:pt>
                <c:pt idx="61">
                  <c:v>1800000</c:v>
                </c:pt>
                <c:pt idx="62">
                  <c:v>1700000</c:v>
                </c:pt>
                <c:pt idx="63">
                  <c:v>1700000</c:v>
                </c:pt>
                <c:pt idx="64">
                  <c:v>1793211</c:v>
                </c:pt>
                <c:pt idx="65">
                  <c:v>1820000</c:v>
                </c:pt>
                <c:pt idx="66">
                  <c:v>1820000</c:v>
                </c:pt>
                <c:pt idx="67">
                  <c:v>2050000</c:v>
                </c:pt>
                <c:pt idx="68">
                  <c:v>2050000</c:v>
                </c:pt>
                <c:pt idx="69">
                  <c:v>2250000</c:v>
                </c:pt>
                <c:pt idx="70">
                  <c:v>2250000</c:v>
                </c:pt>
                <c:pt idx="71">
                  <c:v>2000000</c:v>
                </c:pt>
                <c:pt idx="72">
                  <c:v>2100000</c:v>
                </c:pt>
                <c:pt idx="73">
                  <c:v>2300000</c:v>
                </c:pt>
                <c:pt idx="74">
                  <c:v>2050000</c:v>
                </c:pt>
                <c:pt idx="75">
                  <c:v>2050000</c:v>
                </c:pt>
                <c:pt idx="76">
                  <c:v>2250000</c:v>
                </c:pt>
                <c:pt idx="77">
                  <c:v>2000000</c:v>
                </c:pt>
                <c:pt idx="78">
                  <c:v>2016850</c:v>
                </c:pt>
                <c:pt idx="79">
                  <c:v>2050000</c:v>
                </c:pt>
                <c:pt idx="80">
                  <c:v>2050000</c:v>
                </c:pt>
                <c:pt idx="81">
                  <c:v>2250000</c:v>
                </c:pt>
                <c:pt idx="82">
                  <c:v>2050000</c:v>
                </c:pt>
                <c:pt idx="83">
                  <c:v>2050000</c:v>
                </c:pt>
                <c:pt idx="84">
                  <c:v>2250000</c:v>
                </c:pt>
                <c:pt idx="85">
                  <c:v>1660000</c:v>
                </c:pt>
                <c:pt idx="86">
                  <c:v>1890000</c:v>
                </c:pt>
                <c:pt idx="87">
                  <c:v>1800000</c:v>
                </c:pt>
                <c:pt idx="88">
                  <c:v>1875159</c:v>
                </c:pt>
                <c:pt idx="89">
                  <c:v>1720000</c:v>
                </c:pt>
                <c:pt idx="90">
                  <c:v>1660000</c:v>
                </c:pt>
                <c:pt idx="91">
                  <c:v>1856895</c:v>
                </c:pt>
                <c:pt idx="92">
                  <c:v>1887792</c:v>
                </c:pt>
                <c:pt idx="93">
                  <c:v>1947820</c:v>
                </c:pt>
                <c:pt idx="94">
                  <c:v>1832541</c:v>
                </c:pt>
                <c:pt idx="95">
                  <c:v>1831781</c:v>
                </c:pt>
                <c:pt idx="96">
                  <c:v>2240000</c:v>
                </c:pt>
                <c:pt idx="97">
                  <c:v>2240000</c:v>
                </c:pt>
                <c:pt idx="98">
                  <c:v>1870000</c:v>
                </c:pt>
                <c:pt idx="99">
                  <c:v>1780000</c:v>
                </c:pt>
                <c:pt idx="100">
                  <c:v>2030000</c:v>
                </c:pt>
                <c:pt idx="101">
                  <c:v>1690000</c:v>
                </c:pt>
                <c:pt idx="102">
                  <c:v>1680000</c:v>
                </c:pt>
                <c:pt idx="103">
                  <c:v>1690000</c:v>
                </c:pt>
                <c:pt idx="104">
                  <c:v>1680000</c:v>
                </c:pt>
                <c:pt idx="105">
                  <c:v>1730000</c:v>
                </c:pt>
                <c:pt idx="106">
                  <c:v>1660000</c:v>
                </c:pt>
                <c:pt idx="107">
                  <c:v>1670000</c:v>
                </c:pt>
                <c:pt idx="108">
                  <c:v>1900000</c:v>
                </c:pt>
                <c:pt idx="109">
                  <c:v>1690000</c:v>
                </c:pt>
                <c:pt idx="110">
                  <c:v>1690000</c:v>
                </c:pt>
                <c:pt idx="111">
                  <c:v>1583436</c:v>
                </c:pt>
                <c:pt idx="112">
                  <c:v>2240000</c:v>
                </c:pt>
                <c:pt idx="113">
                  <c:v>2164000</c:v>
                </c:pt>
                <c:pt idx="114">
                  <c:v>2172000</c:v>
                </c:pt>
                <c:pt idx="115">
                  <c:v>2172000</c:v>
                </c:pt>
                <c:pt idx="116">
                  <c:v>2016000</c:v>
                </c:pt>
                <c:pt idx="117">
                  <c:v>2016000</c:v>
                </c:pt>
                <c:pt idx="118">
                  <c:v>2266000</c:v>
                </c:pt>
                <c:pt idx="119">
                  <c:v>2214000</c:v>
                </c:pt>
                <c:pt idx="120">
                  <c:v>2266000</c:v>
                </c:pt>
                <c:pt idx="121">
                  <c:v>2214000</c:v>
                </c:pt>
                <c:pt idx="122">
                  <c:v>2214000</c:v>
                </c:pt>
                <c:pt idx="123">
                  <c:v>2250000</c:v>
                </c:pt>
                <c:pt idx="124">
                  <c:v>2064000</c:v>
                </c:pt>
                <c:pt idx="125">
                  <c:v>2094000</c:v>
                </c:pt>
                <c:pt idx="126">
                  <c:v>2318000</c:v>
                </c:pt>
                <c:pt idx="127">
                  <c:v>2318000</c:v>
                </c:pt>
                <c:pt idx="128">
                  <c:v>2176000</c:v>
                </c:pt>
                <c:pt idx="129">
                  <c:v>2176000</c:v>
                </c:pt>
                <c:pt idx="130">
                  <c:v>2342000</c:v>
                </c:pt>
                <c:pt idx="131">
                  <c:v>2342000</c:v>
                </c:pt>
                <c:pt idx="132">
                  <c:v>2342000</c:v>
                </c:pt>
                <c:pt idx="133">
                  <c:v>2342000</c:v>
                </c:pt>
                <c:pt idx="134">
                  <c:v>2264000</c:v>
                </c:pt>
                <c:pt idx="135">
                  <c:v>2264000</c:v>
                </c:pt>
                <c:pt idx="136">
                  <c:v>2132000</c:v>
                </c:pt>
                <c:pt idx="137">
                  <c:v>2132000</c:v>
                </c:pt>
                <c:pt idx="138">
                  <c:v>2264000</c:v>
                </c:pt>
                <c:pt idx="139">
                  <c:v>2264000</c:v>
                </c:pt>
                <c:pt idx="140">
                  <c:v>2116000</c:v>
                </c:pt>
                <c:pt idx="141">
                  <c:v>2116000</c:v>
                </c:pt>
                <c:pt idx="142">
                  <c:v>2188000</c:v>
                </c:pt>
                <c:pt idx="143">
                  <c:v>2188000</c:v>
                </c:pt>
                <c:pt idx="144">
                  <c:v>2060000</c:v>
                </c:pt>
                <c:pt idx="145">
                  <c:v>2060000</c:v>
                </c:pt>
                <c:pt idx="146">
                  <c:v>2142000</c:v>
                </c:pt>
                <c:pt idx="147">
                  <c:v>2142000</c:v>
                </c:pt>
                <c:pt idx="148">
                  <c:v>2280000</c:v>
                </c:pt>
                <c:pt idx="149">
                  <c:v>2280000</c:v>
                </c:pt>
                <c:pt idx="150">
                  <c:v>2150000</c:v>
                </c:pt>
                <c:pt idx="151">
                  <c:v>2150000</c:v>
                </c:pt>
                <c:pt idx="152">
                  <c:v>1328250</c:v>
                </c:pt>
                <c:pt idx="153">
                  <c:v>1270000</c:v>
                </c:pt>
                <c:pt idx="154">
                  <c:v>1270500</c:v>
                </c:pt>
                <c:pt idx="155">
                  <c:v>1247400</c:v>
                </c:pt>
                <c:pt idx="156">
                  <c:v>1188000</c:v>
                </c:pt>
                <c:pt idx="157">
                  <c:v>1270500</c:v>
                </c:pt>
                <c:pt idx="158">
                  <c:v>1459500</c:v>
                </c:pt>
                <c:pt idx="159">
                  <c:v>1177000</c:v>
                </c:pt>
                <c:pt idx="160">
                  <c:v>1212750</c:v>
                </c:pt>
                <c:pt idx="161">
                  <c:v>2136000</c:v>
                </c:pt>
                <c:pt idx="162">
                  <c:v>1819283</c:v>
                </c:pt>
                <c:pt idx="163">
                  <c:v>1818082</c:v>
                </c:pt>
                <c:pt idx="164">
                  <c:v>1768000</c:v>
                </c:pt>
                <c:pt idx="165">
                  <c:v>1857000</c:v>
                </c:pt>
                <c:pt idx="166">
                  <c:v>2233000</c:v>
                </c:pt>
                <c:pt idx="167">
                  <c:v>2213000</c:v>
                </c:pt>
                <c:pt idx="168">
                  <c:v>1785951</c:v>
                </c:pt>
                <c:pt idx="169">
                  <c:v>2011000</c:v>
                </c:pt>
                <c:pt idx="170">
                  <c:v>2064915</c:v>
                </c:pt>
                <c:pt idx="171">
                  <c:v>2239444</c:v>
                </c:pt>
                <c:pt idx="172">
                  <c:v>1857000</c:v>
                </c:pt>
                <c:pt idx="173">
                  <c:v>2236000</c:v>
                </c:pt>
                <c:pt idx="174">
                  <c:v>2219935</c:v>
                </c:pt>
                <c:pt idx="175">
                  <c:v>1937000</c:v>
                </c:pt>
                <c:pt idx="176">
                  <c:v>1792000</c:v>
                </c:pt>
                <c:pt idx="177">
                  <c:v>2014000</c:v>
                </c:pt>
                <c:pt idx="178">
                  <c:v>1891956</c:v>
                </c:pt>
                <c:pt idx="179">
                  <c:v>1891908</c:v>
                </c:pt>
                <c:pt idx="180">
                  <c:v>1853000</c:v>
                </c:pt>
                <c:pt idx="181">
                  <c:v>1819000</c:v>
                </c:pt>
                <c:pt idx="182">
                  <c:v>1893000</c:v>
                </c:pt>
                <c:pt idx="183">
                  <c:v>1962000</c:v>
                </c:pt>
                <c:pt idx="184">
                  <c:v>1790000</c:v>
                </c:pt>
                <c:pt idx="185">
                  <c:v>1528000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Sheet1!$B$189</c:f>
              <c:strCache>
                <c:ptCount val="1"/>
                <c:pt idx="0">
                  <c:v>CFT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D89B46"/>
              </a:solidFill>
              <a:ln w="6350">
                <a:solidFill>
                  <a:srgbClr val="FFFFFF"/>
                </a:solidFill>
              </a:ln>
            </c:spPr>
          </c:marker>
          <c:xVal>
            <c:numRef>
              <c:f>Sheet1!$A$190:$A$273</c:f>
              <c:numCache>
                <c:formatCode>General</c:formatCode>
                <c:ptCount val="84"/>
                <c:pt idx="0">
                  <c:v>5.0</c:v>
                </c:pt>
                <c:pt idx="1">
                  <c:v>5.0</c:v>
                </c:pt>
                <c:pt idx="2">
                  <c:v>5.0</c:v>
                </c:pt>
                <c:pt idx="3">
                  <c:v>5.0</c:v>
                </c:pt>
                <c:pt idx="4">
                  <c:v>5.0</c:v>
                </c:pt>
                <c:pt idx="5">
                  <c:v>5.0</c:v>
                </c:pt>
                <c:pt idx="6">
                  <c:v>5.0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5.0</c:v>
                </c:pt>
                <c:pt idx="11">
                  <c:v>5.0</c:v>
                </c:pt>
                <c:pt idx="12">
                  <c:v>5.0</c:v>
                </c:pt>
                <c:pt idx="13">
                  <c:v>5.0</c:v>
                </c:pt>
                <c:pt idx="14">
                  <c:v>5.0</c:v>
                </c:pt>
                <c:pt idx="15">
                  <c:v>5.0</c:v>
                </c:pt>
                <c:pt idx="16">
                  <c:v>5.0</c:v>
                </c:pt>
                <c:pt idx="17">
                  <c:v>5.0</c:v>
                </c:pt>
                <c:pt idx="18">
                  <c:v>5.0</c:v>
                </c:pt>
                <c:pt idx="19">
                  <c:v>5.0</c:v>
                </c:pt>
                <c:pt idx="20">
                  <c:v>5.0</c:v>
                </c:pt>
                <c:pt idx="21">
                  <c:v>5.0</c:v>
                </c:pt>
                <c:pt idx="22">
                  <c:v>5.0</c:v>
                </c:pt>
                <c:pt idx="23">
                  <c:v>5.0</c:v>
                </c:pt>
                <c:pt idx="24">
                  <c:v>5.0</c:v>
                </c:pt>
                <c:pt idx="25">
                  <c:v>5.0</c:v>
                </c:pt>
                <c:pt idx="26">
                  <c:v>5.0</c:v>
                </c:pt>
                <c:pt idx="27">
                  <c:v>5.0</c:v>
                </c:pt>
                <c:pt idx="28">
                  <c:v>5.0</c:v>
                </c:pt>
                <c:pt idx="29">
                  <c:v>5.0</c:v>
                </c:pt>
                <c:pt idx="30">
                  <c:v>7.0</c:v>
                </c:pt>
                <c:pt idx="31">
                  <c:v>4.0</c:v>
                </c:pt>
                <c:pt idx="32">
                  <c:v>4.0</c:v>
                </c:pt>
                <c:pt idx="33">
                  <c:v>4.0</c:v>
                </c:pt>
                <c:pt idx="34">
                  <c:v>4.0</c:v>
                </c:pt>
                <c:pt idx="35">
                  <c:v>4.49</c:v>
                </c:pt>
                <c:pt idx="36">
                  <c:v>4.53</c:v>
                </c:pt>
                <c:pt idx="37">
                  <c:v>4.35</c:v>
                </c:pt>
                <c:pt idx="38">
                  <c:v>4.0</c:v>
                </c:pt>
                <c:pt idx="39">
                  <c:v>4.0</c:v>
                </c:pt>
                <c:pt idx="40">
                  <c:v>4.0</c:v>
                </c:pt>
                <c:pt idx="41">
                  <c:v>4.0</c:v>
                </c:pt>
                <c:pt idx="42">
                  <c:v>4.0</c:v>
                </c:pt>
                <c:pt idx="43">
                  <c:v>5.0</c:v>
                </c:pt>
                <c:pt idx="44">
                  <c:v>4.0</c:v>
                </c:pt>
                <c:pt idx="45">
                  <c:v>4.0</c:v>
                </c:pt>
                <c:pt idx="46">
                  <c:v>4.0</c:v>
                </c:pt>
                <c:pt idx="47">
                  <c:v>4.0</c:v>
                </c:pt>
                <c:pt idx="48">
                  <c:v>4.0</c:v>
                </c:pt>
                <c:pt idx="49">
                  <c:v>4.0</c:v>
                </c:pt>
                <c:pt idx="50">
                  <c:v>4.0</c:v>
                </c:pt>
                <c:pt idx="51">
                  <c:v>4.0</c:v>
                </c:pt>
                <c:pt idx="52">
                  <c:v>4.0</c:v>
                </c:pt>
                <c:pt idx="53">
                  <c:v>4.0</c:v>
                </c:pt>
                <c:pt idx="54">
                  <c:v>4.0</c:v>
                </c:pt>
                <c:pt idx="55">
                  <c:v>4.0</c:v>
                </c:pt>
                <c:pt idx="56">
                  <c:v>4.5</c:v>
                </c:pt>
                <c:pt idx="57">
                  <c:v>4.0</c:v>
                </c:pt>
                <c:pt idx="58">
                  <c:v>4.0</c:v>
                </c:pt>
                <c:pt idx="59">
                  <c:v>4.0</c:v>
                </c:pt>
                <c:pt idx="60">
                  <c:v>4.0</c:v>
                </c:pt>
                <c:pt idx="61">
                  <c:v>4.0</c:v>
                </c:pt>
                <c:pt idx="62">
                  <c:v>4.0</c:v>
                </c:pt>
                <c:pt idx="63">
                  <c:v>4.0</c:v>
                </c:pt>
                <c:pt idx="64">
                  <c:v>4.0</c:v>
                </c:pt>
                <c:pt idx="65">
                  <c:v>4.0</c:v>
                </c:pt>
                <c:pt idx="66">
                  <c:v>4.0</c:v>
                </c:pt>
                <c:pt idx="67">
                  <c:v>5.0</c:v>
                </c:pt>
                <c:pt idx="68">
                  <c:v>5.0</c:v>
                </c:pt>
                <c:pt idx="69">
                  <c:v>5.0</c:v>
                </c:pt>
                <c:pt idx="70">
                  <c:v>5.0</c:v>
                </c:pt>
                <c:pt idx="71">
                  <c:v>5.0</c:v>
                </c:pt>
                <c:pt idx="72">
                  <c:v>5.0</c:v>
                </c:pt>
                <c:pt idx="73">
                  <c:v>5.0</c:v>
                </c:pt>
                <c:pt idx="74">
                  <c:v>5.0</c:v>
                </c:pt>
                <c:pt idx="75">
                  <c:v>5.0</c:v>
                </c:pt>
                <c:pt idx="76">
                  <c:v>5.0</c:v>
                </c:pt>
                <c:pt idx="77">
                  <c:v>5.0</c:v>
                </c:pt>
                <c:pt idx="78">
                  <c:v>5.0</c:v>
                </c:pt>
                <c:pt idx="79">
                  <c:v>5.0</c:v>
                </c:pt>
                <c:pt idx="80">
                  <c:v>5.0</c:v>
                </c:pt>
                <c:pt idx="81">
                  <c:v>5.0</c:v>
                </c:pt>
                <c:pt idx="82">
                  <c:v>5.0</c:v>
                </c:pt>
                <c:pt idx="83">
                  <c:v>5.0</c:v>
                </c:pt>
              </c:numCache>
            </c:numRef>
          </c:xVal>
          <c:yVal>
            <c:numRef>
              <c:f>Sheet1!$B$190:$B$273</c:f>
              <c:numCache>
                <c:formatCode>General</c:formatCode>
                <c:ptCount val="84"/>
                <c:pt idx="0">
                  <c:v>1672365</c:v>
                </c:pt>
                <c:pt idx="1">
                  <c:v>1672365</c:v>
                </c:pt>
                <c:pt idx="2">
                  <c:v>1672365</c:v>
                </c:pt>
                <c:pt idx="3">
                  <c:v>1672365</c:v>
                </c:pt>
                <c:pt idx="4">
                  <c:v>1672365</c:v>
                </c:pt>
                <c:pt idx="5">
                  <c:v>1672365</c:v>
                </c:pt>
                <c:pt idx="6">
                  <c:v>1672365</c:v>
                </c:pt>
                <c:pt idx="7">
                  <c:v>1672365</c:v>
                </c:pt>
                <c:pt idx="8">
                  <c:v>1672365</c:v>
                </c:pt>
                <c:pt idx="9">
                  <c:v>1672365</c:v>
                </c:pt>
                <c:pt idx="10">
                  <c:v>1672365</c:v>
                </c:pt>
                <c:pt idx="11">
                  <c:v>1672365</c:v>
                </c:pt>
                <c:pt idx="12">
                  <c:v>1672365</c:v>
                </c:pt>
                <c:pt idx="13">
                  <c:v>1672365</c:v>
                </c:pt>
                <c:pt idx="14">
                  <c:v>1672365</c:v>
                </c:pt>
                <c:pt idx="15">
                  <c:v>1672365</c:v>
                </c:pt>
                <c:pt idx="16">
                  <c:v>1672365</c:v>
                </c:pt>
                <c:pt idx="17">
                  <c:v>1672365</c:v>
                </c:pt>
                <c:pt idx="18">
                  <c:v>1672365</c:v>
                </c:pt>
                <c:pt idx="19">
                  <c:v>1672365</c:v>
                </c:pt>
                <c:pt idx="20">
                  <c:v>1672365</c:v>
                </c:pt>
                <c:pt idx="21">
                  <c:v>1672365</c:v>
                </c:pt>
                <c:pt idx="22">
                  <c:v>1672365</c:v>
                </c:pt>
                <c:pt idx="23">
                  <c:v>1672365</c:v>
                </c:pt>
                <c:pt idx="24">
                  <c:v>1672365</c:v>
                </c:pt>
                <c:pt idx="25">
                  <c:v>1230000</c:v>
                </c:pt>
                <c:pt idx="26">
                  <c:v>1230000</c:v>
                </c:pt>
                <c:pt idx="27">
                  <c:v>1230000</c:v>
                </c:pt>
                <c:pt idx="28">
                  <c:v>1230000</c:v>
                </c:pt>
                <c:pt idx="29">
                  <c:v>1230000</c:v>
                </c:pt>
                <c:pt idx="30">
                  <c:v>1440000</c:v>
                </c:pt>
                <c:pt idx="31">
                  <c:v>2172000</c:v>
                </c:pt>
                <c:pt idx="32">
                  <c:v>2172000</c:v>
                </c:pt>
                <c:pt idx="33">
                  <c:v>2016000</c:v>
                </c:pt>
                <c:pt idx="34">
                  <c:v>2016000</c:v>
                </c:pt>
                <c:pt idx="35">
                  <c:v>2250000</c:v>
                </c:pt>
                <c:pt idx="36">
                  <c:v>2064000</c:v>
                </c:pt>
                <c:pt idx="37">
                  <c:v>2064000</c:v>
                </c:pt>
                <c:pt idx="38">
                  <c:v>2266000</c:v>
                </c:pt>
                <c:pt idx="39">
                  <c:v>2266000</c:v>
                </c:pt>
                <c:pt idx="40">
                  <c:v>2214000</c:v>
                </c:pt>
                <c:pt idx="41">
                  <c:v>2214000</c:v>
                </c:pt>
                <c:pt idx="42">
                  <c:v>2022000</c:v>
                </c:pt>
                <c:pt idx="43">
                  <c:v>2164000</c:v>
                </c:pt>
                <c:pt idx="44">
                  <c:v>2240000</c:v>
                </c:pt>
                <c:pt idx="45">
                  <c:v>2240000</c:v>
                </c:pt>
                <c:pt idx="46">
                  <c:v>2516000</c:v>
                </c:pt>
                <c:pt idx="47">
                  <c:v>2110000</c:v>
                </c:pt>
                <c:pt idx="48">
                  <c:v>2094000</c:v>
                </c:pt>
                <c:pt idx="49">
                  <c:v>2280000</c:v>
                </c:pt>
                <c:pt idx="50">
                  <c:v>2280000</c:v>
                </c:pt>
                <c:pt idx="51">
                  <c:v>2150000</c:v>
                </c:pt>
                <c:pt idx="52">
                  <c:v>2150000</c:v>
                </c:pt>
                <c:pt idx="53">
                  <c:v>2318000</c:v>
                </c:pt>
                <c:pt idx="54">
                  <c:v>2318000</c:v>
                </c:pt>
                <c:pt idx="55">
                  <c:v>2176000</c:v>
                </c:pt>
                <c:pt idx="56">
                  <c:v>2188000</c:v>
                </c:pt>
                <c:pt idx="57">
                  <c:v>2060000</c:v>
                </c:pt>
                <c:pt idx="58">
                  <c:v>2266000</c:v>
                </c:pt>
                <c:pt idx="59">
                  <c:v>2266000</c:v>
                </c:pt>
                <c:pt idx="60">
                  <c:v>2214000</c:v>
                </c:pt>
                <c:pt idx="61">
                  <c:v>2214000</c:v>
                </c:pt>
                <c:pt idx="62">
                  <c:v>2110000</c:v>
                </c:pt>
                <c:pt idx="63">
                  <c:v>2264000</c:v>
                </c:pt>
                <c:pt idx="64">
                  <c:v>2132000</c:v>
                </c:pt>
                <c:pt idx="65">
                  <c:v>2264000</c:v>
                </c:pt>
                <c:pt idx="66">
                  <c:v>2016000</c:v>
                </c:pt>
                <c:pt idx="67">
                  <c:v>2022000</c:v>
                </c:pt>
                <c:pt idx="68">
                  <c:v>1712000</c:v>
                </c:pt>
                <c:pt idx="69">
                  <c:v>1777000</c:v>
                </c:pt>
                <c:pt idx="70">
                  <c:v>1650000</c:v>
                </c:pt>
                <c:pt idx="71">
                  <c:v>1835000</c:v>
                </c:pt>
                <c:pt idx="72">
                  <c:v>1677000</c:v>
                </c:pt>
                <c:pt idx="73">
                  <c:v>1684000</c:v>
                </c:pt>
                <c:pt idx="74">
                  <c:v>1764000</c:v>
                </c:pt>
                <c:pt idx="75">
                  <c:v>1494000</c:v>
                </c:pt>
                <c:pt idx="76">
                  <c:v>1327000</c:v>
                </c:pt>
                <c:pt idx="77">
                  <c:v>1337000</c:v>
                </c:pt>
                <c:pt idx="78">
                  <c:v>2011000</c:v>
                </c:pt>
                <c:pt idx="79">
                  <c:v>1997000</c:v>
                </c:pt>
                <c:pt idx="80">
                  <c:v>1993000</c:v>
                </c:pt>
                <c:pt idx="81">
                  <c:v>1775000</c:v>
                </c:pt>
                <c:pt idx="82">
                  <c:v>1945000</c:v>
                </c:pt>
                <c:pt idx="83">
                  <c:v>1917000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Sheet1!$B$275</c:f>
              <c:strCache>
                <c:ptCount val="1"/>
                <c:pt idx="0">
                  <c:v>U. Privadas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7A9CB8"/>
              </a:solidFill>
              <a:ln w="6350">
                <a:solidFill>
                  <a:srgbClr val="FFFFFF"/>
                </a:solidFill>
              </a:ln>
            </c:spPr>
          </c:marker>
          <c:xVal>
            <c:numRef>
              <c:f>Sheet1!$A$276:$A$362</c:f>
              <c:numCache>
                <c:formatCode>General</c:formatCode>
                <c:ptCount val="87"/>
                <c:pt idx="0">
                  <c:v>12.0</c:v>
                </c:pt>
                <c:pt idx="1">
                  <c:v>10.0</c:v>
                </c:pt>
                <c:pt idx="2">
                  <c:v>10.0</c:v>
                </c:pt>
                <c:pt idx="3">
                  <c:v>10.0</c:v>
                </c:pt>
                <c:pt idx="4">
                  <c:v>5.0</c:v>
                </c:pt>
                <c:pt idx="5">
                  <c:v>5.0</c:v>
                </c:pt>
                <c:pt idx="6">
                  <c:v>6.0</c:v>
                </c:pt>
                <c:pt idx="7">
                  <c:v>6.0</c:v>
                </c:pt>
                <c:pt idx="8">
                  <c:v>5.0</c:v>
                </c:pt>
                <c:pt idx="9">
                  <c:v>5.0</c:v>
                </c:pt>
                <c:pt idx="10">
                  <c:v>5.0</c:v>
                </c:pt>
                <c:pt idx="11">
                  <c:v>5.0</c:v>
                </c:pt>
                <c:pt idx="12">
                  <c:v>5.01</c:v>
                </c:pt>
                <c:pt idx="13">
                  <c:v>10.0</c:v>
                </c:pt>
                <c:pt idx="14">
                  <c:v>10.0</c:v>
                </c:pt>
                <c:pt idx="15">
                  <c:v>10.0</c:v>
                </c:pt>
                <c:pt idx="16">
                  <c:v>5.0</c:v>
                </c:pt>
                <c:pt idx="17">
                  <c:v>5.0</c:v>
                </c:pt>
                <c:pt idx="18">
                  <c:v>5.0</c:v>
                </c:pt>
                <c:pt idx="19">
                  <c:v>5.0</c:v>
                </c:pt>
                <c:pt idx="20">
                  <c:v>5.0</c:v>
                </c:pt>
                <c:pt idx="21">
                  <c:v>5.0</c:v>
                </c:pt>
                <c:pt idx="22">
                  <c:v>10.0</c:v>
                </c:pt>
                <c:pt idx="23">
                  <c:v>10.0</c:v>
                </c:pt>
                <c:pt idx="24">
                  <c:v>8.0</c:v>
                </c:pt>
                <c:pt idx="25">
                  <c:v>8.0</c:v>
                </c:pt>
                <c:pt idx="26">
                  <c:v>10.0</c:v>
                </c:pt>
                <c:pt idx="27">
                  <c:v>10.0</c:v>
                </c:pt>
                <c:pt idx="28">
                  <c:v>10.0</c:v>
                </c:pt>
                <c:pt idx="29">
                  <c:v>10.0</c:v>
                </c:pt>
                <c:pt idx="30">
                  <c:v>10.0</c:v>
                </c:pt>
                <c:pt idx="31">
                  <c:v>8.0</c:v>
                </c:pt>
                <c:pt idx="32">
                  <c:v>8.0</c:v>
                </c:pt>
                <c:pt idx="33">
                  <c:v>10.0</c:v>
                </c:pt>
                <c:pt idx="34">
                  <c:v>10.0</c:v>
                </c:pt>
                <c:pt idx="35">
                  <c:v>12.0</c:v>
                </c:pt>
                <c:pt idx="36">
                  <c:v>8.0</c:v>
                </c:pt>
                <c:pt idx="37">
                  <c:v>8.0</c:v>
                </c:pt>
                <c:pt idx="38">
                  <c:v>10.0</c:v>
                </c:pt>
                <c:pt idx="39">
                  <c:v>10.0</c:v>
                </c:pt>
                <c:pt idx="40">
                  <c:v>10.0</c:v>
                </c:pt>
                <c:pt idx="41">
                  <c:v>10.0</c:v>
                </c:pt>
                <c:pt idx="42">
                  <c:v>10.0</c:v>
                </c:pt>
                <c:pt idx="43">
                  <c:v>10.0</c:v>
                </c:pt>
                <c:pt idx="44">
                  <c:v>10.0</c:v>
                </c:pt>
                <c:pt idx="45">
                  <c:v>5.0</c:v>
                </c:pt>
                <c:pt idx="46">
                  <c:v>4.0</c:v>
                </c:pt>
                <c:pt idx="47">
                  <c:v>4.0</c:v>
                </c:pt>
                <c:pt idx="48">
                  <c:v>4.0</c:v>
                </c:pt>
                <c:pt idx="49">
                  <c:v>9.0</c:v>
                </c:pt>
                <c:pt idx="50">
                  <c:v>5.0</c:v>
                </c:pt>
                <c:pt idx="51">
                  <c:v>5.0</c:v>
                </c:pt>
                <c:pt idx="52">
                  <c:v>4.0</c:v>
                </c:pt>
                <c:pt idx="53">
                  <c:v>11.0</c:v>
                </c:pt>
                <c:pt idx="54">
                  <c:v>10.0</c:v>
                </c:pt>
                <c:pt idx="55">
                  <c:v>11.0</c:v>
                </c:pt>
                <c:pt idx="56">
                  <c:v>5.0</c:v>
                </c:pt>
                <c:pt idx="57">
                  <c:v>10.0</c:v>
                </c:pt>
                <c:pt idx="58">
                  <c:v>10.0</c:v>
                </c:pt>
                <c:pt idx="59">
                  <c:v>10.0</c:v>
                </c:pt>
                <c:pt idx="60">
                  <c:v>10.0</c:v>
                </c:pt>
                <c:pt idx="61">
                  <c:v>10.0</c:v>
                </c:pt>
                <c:pt idx="62">
                  <c:v>2.0</c:v>
                </c:pt>
                <c:pt idx="63">
                  <c:v>2.0</c:v>
                </c:pt>
                <c:pt idx="64">
                  <c:v>9.0</c:v>
                </c:pt>
                <c:pt idx="65">
                  <c:v>8.0</c:v>
                </c:pt>
                <c:pt idx="66">
                  <c:v>8.0</c:v>
                </c:pt>
                <c:pt idx="67">
                  <c:v>8.0</c:v>
                </c:pt>
                <c:pt idx="68">
                  <c:v>8.0</c:v>
                </c:pt>
                <c:pt idx="69">
                  <c:v>8.0</c:v>
                </c:pt>
                <c:pt idx="70">
                  <c:v>8.0</c:v>
                </c:pt>
                <c:pt idx="71">
                  <c:v>8.0</c:v>
                </c:pt>
                <c:pt idx="72">
                  <c:v>8.0</c:v>
                </c:pt>
                <c:pt idx="73">
                  <c:v>8.0</c:v>
                </c:pt>
                <c:pt idx="74">
                  <c:v>8.0</c:v>
                </c:pt>
                <c:pt idx="75">
                  <c:v>8.0</c:v>
                </c:pt>
                <c:pt idx="76">
                  <c:v>8.0</c:v>
                </c:pt>
                <c:pt idx="77">
                  <c:v>8.0</c:v>
                </c:pt>
                <c:pt idx="78">
                  <c:v>8.0</c:v>
                </c:pt>
                <c:pt idx="79">
                  <c:v>8.0</c:v>
                </c:pt>
                <c:pt idx="80">
                  <c:v>8.0</c:v>
                </c:pt>
                <c:pt idx="81">
                  <c:v>8.0</c:v>
                </c:pt>
                <c:pt idx="82">
                  <c:v>8.0</c:v>
                </c:pt>
                <c:pt idx="83">
                  <c:v>9.0</c:v>
                </c:pt>
                <c:pt idx="84">
                  <c:v>8.87</c:v>
                </c:pt>
                <c:pt idx="85">
                  <c:v>8.0</c:v>
                </c:pt>
                <c:pt idx="86">
                  <c:v>8.0</c:v>
                </c:pt>
              </c:numCache>
            </c:numRef>
          </c:xVal>
          <c:yVal>
            <c:numRef>
              <c:f>Sheet1!$B$276:$B$362</c:f>
              <c:numCache>
                <c:formatCode>General</c:formatCode>
                <c:ptCount val="87"/>
                <c:pt idx="0">
                  <c:v>2735000</c:v>
                </c:pt>
                <c:pt idx="1">
                  <c:v>3039656</c:v>
                </c:pt>
                <c:pt idx="2">
                  <c:v>2965291</c:v>
                </c:pt>
                <c:pt idx="3">
                  <c:v>2965291</c:v>
                </c:pt>
                <c:pt idx="4">
                  <c:v>2665370</c:v>
                </c:pt>
                <c:pt idx="5">
                  <c:v>2665370</c:v>
                </c:pt>
                <c:pt idx="6">
                  <c:v>2247000</c:v>
                </c:pt>
                <c:pt idx="7">
                  <c:v>2140000</c:v>
                </c:pt>
                <c:pt idx="8">
                  <c:v>1907518</c:v>
                </c:pt>
                <c:pt idx="9">
                  <c:v>1907518</c:v>
                </c:pt>
                <c:pt idx="10">
                  <c:v>2227157</c:v>
                </c:pt>
                <c:pt idx="11">
                  <c:v>1814720</c:v>
                </c:pt>
                <c:pt idx="12">
                  <c:v>1853775</c:v>
                </c:pt>
                <c:pt idx="13">
                  <c:v>3062340</c:v>
                </c:pt>
                <c:pt idx="14">
                  <c:v>3039656</c:v>
                </c:pt>
                <c:pt idx="15">
                  <c:v>3039656</c:v>
                </c:pt>
                <c:pt idx="16">
                  <c:v>1310001</c:v>
                </c:pt>
                <c:pt idx="17">
                  <c:v>1701300</c:v>
                </c:pt>
                <c:pt idx="18">
                  <c:v>1701300</c:v>
                </c:pt>
                <c:pt idx="19">
                  <c:v>1587880</c:v>
                </c:pt>
                <c:pt idx="20">
                  <c:v>1417750</c:v>
                </c:pt>
                <c:pt idx="21">
                  <c:v>1417750</c:v>
                </c:pt>
                <c:pt idx="22">
                  <c:v>2910000</c:v>
                </c:pt>
                <c:pt idx="23">
                  <c:v>2910000</c:v>
                </c:pt>
                <c:pt idx="24">
                  <c:v>2090000</c:v>
                </c:pt>
                <c:pt idx="25">
                  <c:v>2090000</c:v>
                </c:pt>
                <c:pt idx="26">
                  <c:v>3130000</c:v>
                </c:pt>
                <c:pt idx="27">
                  <c:v>3020000</c:v>
                </c:pt>
                <c:pt idx="28">
                  <c:v>3020000</c:v>
                </c:pt>
                <c:pt idx="29">
                  <c:v>2790000</c:v>
                </c:pt>
                <c:pt idx="30">
                  <c:v>2750000</c:v>
                </c:pt>
                <c:pt idx="31">
                  <c:v>2760000</c:v>
                </c:pt>
                <c:pt idx="32">
                  <c:v>2750000</c:v>
                </c:pt>
                <c:pt idx="33">
                  <c:v>2910000</c:v>
                </c:pt>
                <c:pt idx="34">
                  <c:v>2910000</c:v>
                </c:pt>
                <c:pt idx="35">
                  <c:v>4970000</c:v>
                </c:pt>
                <c:pt idx="36">
                  <c:v>2380000</c:v>
                </c:pt>
                <c:pt idx="37">
                  <c:v>1870000</c:v>
                </c:pt>
                <c:pt idx="38">
                  <c:v>2865000</c:v>
                </c:pt>
                <c:pt idx="39">
                  <c:v>2865000</c:v>
                </c:pt>
                <c:pt idx="40">
                  <c:v>2450000</c:v>
                </c:pt>
                <c:pt idx="41">
                  <c:v>2450000</c:v>
                </c:pt>
                <c:pt idx="42">
                  <c:v>2450000</c:v>
                </c:pt>
                <c:pt idx="43">
                  <c:v>2450000</c:v>
                </c:pt>
                <c:pt idx="44">
                  <c:v>2450000</c:v>
                </c:pt>
                <c:pt idx="45">
                  <c:v>2450000</c:v>
                </c:pt>
                <c:pt idx="46">
                  <c:v>2450000</c:v>
                </c:pt>
                <c:pt idx="47">
                  <c:v>2450000</c:v>
                </c:pt>
                <c:pt idx="48">
                  <c:v>2450000</c:v>
                </c:pt>
                <c:pt idx="49">
                  <c:v>2450000</c:v>
                </c:pt>
                <c:pt idx="50">
                  <c:v>2450000</c:v>
                </c:pt>
                <c:pt idx="51">
                  <c:v>2450000</c:v>
                </c:pt>
                <c:pt idx="52">
                  <c:v>2862000</c:v>
                </c:pt>
                <c:pt idx="53">
                  <c:v>3800000</c:v>
                </c:pt>
                <c:pt idx="54">
                  <c:v>3792000</c:v>
                </c:pt>
                <c:pt idx="55">
                  <c:v>3693000</c:v>
                </c:pt>
                <c:pt idx="56">
                  <c:v>3648000</c:v>
                </c:pt>
                <c:pt idx="57">
                  <c:v>3481000</c:v>
                </c:pt>
                <c:pt idx="58">
                  <c:v>3706000</c:v>
                </c:pt>
                <c:pt idx="59">
                  <c:v>3506000</c:v>
                </c:pt>
                <c:pt idx="60">
                  <c:v>3610000</c:v>
                </c:pt>
                <c:pt idx="61">
                  <c:v>3410000</c:v>
                </c:pt>
                <c:pt idx="62">
                  <c:v>2478000</c:v>
                </c:pt>
                <c:pt idx="63">
                  <c:v>2276000</c:v>
                </c:pt>
                <c:pt idx="64">
                  <c:v>2164000</c:v>
                </c:pt>
                <c:pt idx="65">
                  <c:v>2172000</c:v>
                </c:pt>
                <c:pt idx="66">
                  <c:v>2172000</c:v>
                </c:pt>
                <c:pt idx="67">
                  <c:v>2016000</c:v>
                </c:pt>
                <c:pt idx="68">
                  <c:v>2016000</c:v>
                </c:pt>
                <c:pt idx="69">
                  <c:v>2172000</c:v>
                </c:pt>
                <c:pt idx="70">
                  <c:v>2172000</c:v>
                </c:pt>
                <c:pt idx="71">
                  <c:v>2016000</c:v>
                </c:pt>
                <c:pt idx="72">
                  <c:v>2016000</c:v>
                </c:pt>
                <c:pt idx="73">
                  <c:v>2172000</c:v>
                </c:pt>
                <c:pt idx="74">
                  <c:v>2172000</c:v>
                </c:pt>
                <c:pt idx="75">
                  <c:v>2266000</c:v>
                </c:pt>
                <c:pt idx="76">
                  <c:v>2266000</c:v>
                </c:pt>
                <c:pt idx="77">
                  <c:v>2214000</c:v>
                </c:pt>
                <c:pt idx="78">
                  <c:v>2214000</c:v>
                </c:pt>
                <c:pt idx="79">
                  <c:v>2250000</c:v>
                </c:pt>
                <c:pt idx="80">
                  <c:v>2250000</c:v>
                </c:pt>
                <c:pt idx="81">
                  <c:v>2064000</c:v>
                </c:pt>
                <c:pt idx="82">
                  <c:v>2064000</c:v>
                </c:pt>
                <c:pt idx="83">
                  <c:v>2110000</c:v>
                </c:pt>
                <c:pt idx="84">
                  <c:v>2093871</c:v>
                </c:pt>
                <c:pt idx="85">
                  <c:v>2144000</c:v>
                </c:pt>
                <c:pt idx="86">
                  <c:v>2068000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Sheet1!$B$364</c:f>
              <c:strCache>
                <c:ptCount val="1"/>
                <c:pt idx="0">
                  <c:v>U. CRUCH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1B2A4A"/>
              </a:solidFill>
              <a:ln w="6350">
                <a:solidFill>
                  <a:srgbClr val="FFFFFF"/>
                </a:solidFill>
              </a:ln>
            </c:spPr>
          </c:marker>
          <c:xVal>
            <c:numRef>
              <c:f>Sheet1!$A$365:$A$473</c:f>
              <c:numCache>
                <c:formatCode>General</c:formatCode>
                <c:ptCount val="109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  <c:pt idx="4">
                  <c:v>8.0</c:v>
                </c:pt>
                <c:pt idx="5">
                  <c:v>9.0</c:v>
                </c:pt>
                <c:pt idx="6">
                  <c:v>8.0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5.0</c:v>
                </c:pt>
                <c:pt idx="11">
                  <c:v>6.0</c:v>
                </c:pt>
                <c:pt idx="12">
                  <c:v>12.0</c:v>
                </c:pt>
                <c:pt idx="13">
                  <c:v>10.0</c:v>
                </c:pt>
                <c:pt idx="14">
                  <c:v>10.0</c:v>
                </c:pt>
                <c:pt idx="15">
                  <c:v>10.0</c:v>
                </c:pt>
                <c:pt idx="16">
                  <c:v>10.01</c:v>
                </c:pt>
                <c:pt idx="17">
                  <c:v>10.38</c:v>
                </c:pt>
                <c:pt idx="18">
                  <c:v>10.49</c:v>
                </c:pt>
                <c:pt idx="19">
                  <c:v>10.37</c:v>
                </c:pt>
                <c:pt idx="20">
                  <c:v>10.08</c:v>
                </c:pt>
                <c:pt idx="21">
                  <c:v>10.0</c:v>
                </c:pt>
                <c:pt idx="22">
                  <c:v>10.13</c:v>
                </c:pt>
                <c:pt idx="23">
                  <c:v>10.42</c:v>
                </c:pt>
                <c:pt idx="24">
                  <c:v>2.0</c:v>
                </c:pt>
                <c:pt idx="25">
                  <c:v>10.43</c:v>
                </c:pt>
                <c:pt idx="26">
                  <c:v>10.0</c:v>
                </c:pt>
                <c:pt idx="27">
                  <c:v>8.0</c:v>
                </c:pt>
                <c:pt idx="28">
                  <c:v>8.0</c:v>
                </c:pt>
                <c:pt idx="29">
                  <c:v>8.0</c:v>
                </c:pt>
                <c:pt idx="30">
                  <c:v>8.0</c:v>
                </c:pt>
                <c:pt idx="31">
                  <c:v>8.02</c:v>
                </c:pt>
                <c:pt idx="32">
                  <c:v>10.0</c:v>
                </c:pt>
                <c:pt idx="33">
                  <c:v>8.0</c:v>
                </c:pt>
                <c:pt idx="34">
                  <c:v>8.0</c:v>
                </c:pt>
                <c:pt idx="35">
                  <c:v>8.0</c:v>
                </c:pt>
                <c:pt idx="36">
                  <c:v>9.0</c:v>
                </c:pt>
                <c:pt idx="37">
                  <c:v>9.0</c:v>
                </c:pt>
                <c:pt idx="38">
                  <c:v>8.0</c:v>
                </c:pt>
                <c:pt idx="39">
                  <c:v>6.0</c:v>
                </c:pt>
                <c:pt idx="40">
                  <c:v>8.0</c:v>
                </c:pt>
                <c:pt idx="41">
                  <c:v>9.43</c:v>
                </c:pt>
                <c:pt idx="42">
                  <c:v>10.0</c:v>
                </c:pt>
                <c:pt idx="43">
                  <c:v>10.0</c:v>
                </c:pt>
                <c:pt idx="44">
                  <c:v>4.0</c:v>
                </c:pt>
                <c:pt idx="45">
                  <c:v>10.0</c:v>
                </c:pt>
                <c:pt idx="46">
                  <c:v>10.0</c:v>
                </c:pt>
                <c:pt idx="47">
                  <c:v>2.0</c:v>
                </c:pt>
                <c:pt idx="48">
                  <c:v>10.0</c:v>
                </c:pt>
                <c:pt idx="49">
                  <c:v>10.0</c:v>
                </c:pt>
                <c:pt idx="50">
                  <c:v>8.0</c:v>
                </c:pt>
                <c:pt idx="51">
                  <c:v>2.93</c:v>
                </c:pt>
                <c:pt idx="52">
                  <c:v>4.0</c:v>
                </c:pt>
                <c:pt idx="53">
                  <c:v>4.0</c:v>
                </c:pt>
                <c:pt idx="54">
                  <c:v>9.0</c:v>
                </c:pt>
                <c:pt idx="55">
                  <c:v>10.0</c:v>
                </c:pt>
                <c:pt idx="56">
                  <c:v>10.0</c:v>
                </c:pt>
                <c:pt idx="57">
                  <c:v>10.0</c:v>
                </c:pt>
                <c:pt idx="58">
                  <c:v>10.0</c:v>
                </c:pt>
                <c:pt idx="59">
                  <c:v>10.0</c:v>
                </c:pt>
                <c:pt idx="60">
                  <c:v>10.0</c:v>
                </c:pt>
                <c:pt idx="61">
                  <c:v>10.0</c:v>
                </c:pt>
                <c:pt idx="62">
                  <c:v>12.0</c:v>
                </c:pt>
                <c:pt idx="63">
                  <c:v>10.0</c:v>
                </c:pt>
                <c:pt idx="64">
                  <c:v>10.0</c:v>
                </c:pt>
                <c:pt idx="65">
                  <c:v>10.19</c:v>
                </c:pt>
                <c:pt idx="66">
                  <c:v>10.26</c:v>
                </c:pt>
                <c:pt idx="67">
                  <c:v>12.0</c:v>
                </c:pt>
                <c:pt idx="68">
                  <c:v>12.0</c:v>
                </c:pt>
                <c:pt idx="69">
                  <c:v>12.0</c:v>
                </c:pt>
                <c:pt idx="70">
                  <c:v>12.0</c:v>
                </c:pt>
                <c:pt idx="71">
                  <c:v>12.0</c:v>
                </c:pt>
                <c:pt idx="72">
                  <c:v>10.0</c:v>
                </c:pt>
                <c:pt idx="73">
                  <c:v>10.0</c:v>
                </c:pt>
                <c:pt idx="74">
                  <c:v>8.0</c:v>
                </c:pt>
                <c:pt idx="75">
                  <c:v>8.0</c:v>
                </c:pt>
                <c:pt idx="76">
                  <c:v>8.0</c:v>
                </c:pt>
                <c:pt idx="77">
                  <c:v>8.0</c:v>
                </c:pt>
                <c:pt idx="78">
                  <c:v>10.0</c:v>
                </c:pt>
                <c:pt idx="79">
                  <c:v>10.0</c:v>
                </c:pt>
                <c:pt idx="80">
                  <c:v>14.0</c:v>
                </c:pt>
                <c:pt idx="81">
                  <c:v>8.0</c:v>
                </c:pt>
                <c:pt idx="82">
                  <c:v>10.0</c:v>
                </c:pt>
                <c:pt idx="83">
                  <c:v>10.0</c:v>
                </c:pt>
                <c:pt idx="84">
                  <c:v>12.0</c:v>
                </c:pt>
                <c:pt idx="85">
                  <c:v>9.15</c:v>
                </c:pt>
                <c:pt idx="86">
                  <c:v>9.17</c:v>
                </c:pt>
                <c:pt idx="87">
                  <c:v>10.0</c:v>
                </c:pt>
                <c:pt idx="88">
                  <c:v>9.0</c:v>
                </c:pt>
                <c:pt idx="89">
                  <c:v>9.0</c:v>
                </c:pt>
                <c:pt idx="90">
                  <c:v>9.13</c:v>
                </c:pt>
                <c:pt idx="91">
                  <c:v>9.23</c:v>
                </c:pt>
                <c:pt idx="92">
                  <c:v>9.1</c:v>
                </c:pt>
                <c:pt idx="93">
                  <c:v>10.0</c:v>
                </c:pt>
                <c:pt idx="94">
                  <c:v>10.0</c:v>
                </c:pt>
                <c:pt idx="95">
                  <c:v>5.0</c:v>
                </c:pt>
                <c:pt idx="96">
                  <c:v>5.0</c:v>
                </c:pt>
                <c:pt idx="97">
                  <c:v>4.0</c:v>
                </c:pt>
                <c:pt idx="98">
                  <c:v>4.0</c:v>
                </c:pt>
                <c:pt idx="99">
                  <c:v>5.0</c:v>
                </c:pt>
                <c:pt idx="100">
                  <c:v>4.0</c:v>
                </c:pt>
                <c:pt idx="101">
                  <c:v>4.0</c:v>
                </c:pt>
                <c:pt idx="102">
                  <c:v>5.0</c:v>
                </c:pt>
                <c:pt idx="103">
                  <c:v>4.0</c:v>
                </c:pt>
                <c:pt idx="104">
                  <c:v>4.0</c:v>
                </c:pt>
                <c:pt idx="105">
                  <c:v>4.0</c:v>
                </c:pt>
                <c:pt idx="106">
                  <c:v>10.0</c:v>
                </c:pt>
                <c:pt idx="107">
                  <c:v>10.0</c:v>
                </c:pt>
                <c:pt idx="108">
                  <c:v>10.0</c:v>
                </c:pt>
              </c:numCache>
            </c:numRef>
          </c:xVal>
          <c:yVal>
            <c:numRef>
              <c:f>Sheet1!$B$365:$B$473</c:f>
              <c:numCache>
                <c:formatCode>General</c:formatCode>
                <c:ptCount val="109"/>
                <c:pt idx="0">
                  <c:v>3495000</c:v>
                </c:pt>
                <c:pt idx="1">
                  <c:v>3433216</c:v>
                </c:pt>
                <c:pt idx="2">
                  <c:v>2818000</c:v>
                </c:pt>
                <c:pt idx="3">
                  <c:v>2189000</c:v>
                </c:pt>
                <c:pt idx="4">
                  <c:v>2684000</c:v>
                </c:pt>
                <c:pt idx="5">
                  <c:v>2449000</c:v>
                </c:pt>
                <c:pt idx="6">
                  <c:v>2172000</c:v>
                </c:pt>
                <c:pt idx="7">
                  <c:v>1544000</c:v>
                </c:pt>
                <c:pt idx="8">
                  <c:v>1452000</c:v>
                </c:pt>
                <c:pt idx="9">
                  <c:v>1452000</c:v>
                </c:pt>
                <c:pt idx="10">
                  <c:v>1452000</c:v>
                </c:pt>
                <c:pt idx="11">
                  <c:v>3239000</c:v>
                </c:pt>
                <c:pt idx="12">
                  <c:v>4084000</c:v>
                </c:pt>
                <c:pt idx="13">
                  <c:v>3369000</c:v>
                </c:pt>
                <c:pt idx="14">
                  <c:v>3353000</c:v>
                </c:pt>
                <c:pt idx="15">
                  <c:v>4263000</c:v>
                </c:pt>
                <c:pt idx="16">
                  <c:v>4283889</c:v>
                </c:pt>
                <c:pt idx="17">
                  <c:v>4254184</c:v>
                </c:pt>
                <c:pt idx="18">
                  <c:v>4000328</c:v>
                </c:pt>
                <c:pt idx="19">
                  <c:v>4342071</c:v>
                </c:pt>
                <c:pt idx="20">
                  <c:v>4134206</c:v>
                </c:pt>
                <c:pt idx="21">
                  <c:v>3851000</c:v>
                </c:pt>
                <c:pt idx="22">
                  <c:v>4278670</c:v>
                </c:pt>
                <c:pt idx="23">
                  <c:v>4356639</c:v>
                </c:pt>
                <c:pt idx="24">
                  <c:v>3922000</c:v>
                </c:pt>
                <c:pt idx="25">
                  <c:v>4143725</c:v>
                </c:pt>
                <c:pt idx="26">
                  <c:v>4214000</c:v>
                </c:pt>
                <c:pt idx="27">
                  <c:v>3145000</c:v>
                </c:pt>
                <c:pt idx="28">
                  <c:v>3101000</c:v>
                </c:pt>
                <c:pt idx="29">
                  <c:v>3073000</c:v>
                </c:pt>
                <c:pt idx="30">
                  <c:v>3454000</c:v>
                </c:pt>
                <c:pt idx="31">
                  <c:v>3824782</c:v>
                </c:pt>
                <c:pt idx="32">
                  <c:v>3696000</c:v>
                </c:pt>
                <c:pt idx="33">
                  <c:v>3387000</c:v>
                </c:pt>
                <c:pt idx="34">
                  <c:v>3416000</c:v>
                </c:pt>
                <c:pt idx="35">
                  <c:v>3349000</c:v>
                </c:pt>
                <c:pt idx="36">
                  <c:v>2509000</c:v>
                </c:pt>
                <c:pt idx="37">
                  <c:v>3432000</c:v>
                </c:pt>
                <c:pt idx="38">
                  <c:v>2853000</c:v>
                </c:pt>
                <c:pt idx="39">
                  <c:v>3039000</c:v>
                </c:pt>
                <c:pt idx="40">
                  <c:v>2572000</c:v>
                </c:pt>
                <c:pt idx="41">
                  <c:v>3089714</c:v>
                </c:pt>
                <c:pt idx="42">
                  <c:v>2574000</c:v>
                </c:pt>
                <c:pt idx="43">
                  <c:v>3495000</c:v>
                </c:pt>
                <c:pt idx="44">
                  <c:v>876000</c:v>
                </c:pt>
                <c:pt idx="45">
                  <c:v>3887000</c:v>
                </c:pt>
                <c:pt idx="46">
                  <c:v>3317000</c:v>
                </c:pt>
                <c:pt idx="47">
                  <c:v>3301000</c:v>
                </c:pt>
                <c:pt idx="48">
                  <c:v>3889000</c:v>
                </c:pt>
                <c:pt idx="49">
                  <c:v>3320000</c:v>
                </c:pt>
                <c:pt idx="50">
                  <c:v>2772000</c:v>
                </c:pt>
                <c:pt idx="51">
                  <c:v>2492000</c:v>
                </c:pt>
                <c:pt idx="52">
                  <c:v>3718000</c:v>
                </c:pt>
                <c:pt idx="53">
                  <c:v>2542000</c:v>
                </c:pt>
                <c:pt idx="54">
                  <c:v>3921000</c:v>
                </c:pt>
                <c:pt idx="55">
                  <c:v>3919000</c:v>
                </c:pt>
                <c:pt idx="56">
                  <c:v>3866000</c:v>
                </c:pt>
                <c:pt idx="57">
                  <c:v>3930000</c:v>
                </c:pt>
                <c:pt idx="58">
                  <c:v>3439000</c:v>
                </c:pt>
                <c:pt idx="59">
                  <c:v>3688000</c:v>
                </c:pt>
                <c:pt idx="60">
                  <c:v>3420000</c:v>
                </c:pt>
                <c:pt idx="61">
                  <c:v>3676000</c:v>
                </c:pt>
                <c:pt idx="62">
                  <c:v>3676000</c:v>
                </c:pt>
                <c:pt idx="63">
                  <c:v>3676000</c:v>
                </c:pt>
                <c:pt idx="64">
                  <c:v>3676000</c:v>
                </c:pt>
                <c:pt idx="65">
                  <c:v>3866000</c:v>
                </c:pt>
                <c:pt idx="66">
                  <c:v>3682186</c:v>
                </c:pt>
                <c:pt idx="67">
                  <c:v>3676000</c:v>
                </c:pt>
                <c:pt idx="68">
                  <c:v>3676000</c:v>
                </c:pt>
                <c:pt idx="69">
                  <c:v>3676000</c:v>
                </c:pt>
                <c:pt idx="70">
                  <c:v>3569000</c:v>
                </c:pt>
                <c:pt idx="71">
                  <c:v>3676000</c:v>
                </c:pt>
                <c:pt idx="72">
                  <c:v>3676000</c:v>
                </c:pt>
                <c:pt idx="73">
                  <c:v>3676000</c:v>
                </c:pt>
                <c:pt idx="74">
                  <c:v>3676000</c:v>
                </c:pt>
                <c:pt idx="75">
                  <c:v>3676000</c:v>
                </c:pt>
                <c:pt idx="76">
                  <c:v>3676000</c:v>
                </c:pt>
                <c:pt idx="77">
                  <c:v>3676000</c:v>
                </c:pt>
                <c:pt idx="78">
                  <c:v>3866000</c:v>
                </c:pt>
                <c:pt idx="79">
                  <c:v>3374000</c:v>
                </c:pt>
                <c:pt idx="80">
                  <c:v>5774000</c:v>
                </c:pt>
                <c:pt idx="81">
                  <c:v>3287000</c:v>
                </c:pt>
                <c:pt idx="82">
                  <c:v>3575000</c:v>
                </c:pt>
                <c:pt idx="83">
                  <c:v>3642000</c:v>
                </c:pt>
                <c:pt idx="84">
                  <c:v>5626000</c:v>
                </c:pt>
                <c:pt idx="85">
                  <c:v>2748000</c:v>
                </c:pt>
                <c:pt idx="86">
                  <c:v>2723000</c:v>
                </c:pt>
                <c:pt idx="87">
                  <c:v>2748000</c:v>
                </c:pt>
                <c:pt idx="88">
                  <c:v>2748000</c:v>
                </c:pt>
                <c:pt idx="89">
                  <c:v>2748000</c:v>
                </c:pt>
                <c:pt idx="90">
                  <c:v>2658000</c:v>
                </c:pt>
                <c:pt idx="91">
                  <c:v>2748000</c:v>
                </c:pt>
                <c:pt idx="92">
                  <c:v>2748000</c:v>
                </c:pt>
                <c:pt idx="93">
                  <c:v>3079000</c:v>
                </c:pt>
                <c:pt idx="94">
                  <c:v>3693000</c:v>
                </c:pt>
                <c:pt idx="95">
                  <c:v>1718000</c:v>
                </c:pt>
                <c:pt idx="96">
                  <c:v>1877000</c:v>
                </c:pt>
                <c:pt idx="97">
                  <c:v>1925000</c:v>
                </c:pt>
                <c:pt idx="98">
                  <c:v>1898000</c:v>
                </c:pt>
                <c:pt idx="99">
                  <c:v>1877000</c:v>
                </c:pt>
                <c:pt idx="100">
                  <c:v>1718000</c:v>
                </c:pt>
                <c:pt idx="101">
                  <c:v>1877000</c:v>
                </c:pt>
                <c:pt idx="102">
                  <c:v>1877000</c:v>
                </c:pt>
                <c:pt idx="103">
                  <c:v>1689000</c:v>
                </c:pt>
                <c:pt idx="104">
                  <c:v>1398000</c:v>
                </c:pt>
                <c:pt idx="105">
                  <c:v>1877000</c:v>
                </c:pt>
                <c:pt idx="106">
                  <c:v>3833000</c:v>
                </c:pt>
                <c:pt idx="107">
                  <c:v>3419000</c:v>
                </c:pt>
                <c:pt idx="108">
                  <c:v>2658000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Sheet1!$B$475</c:f>
              <c:strCache>
                <c:ptCount val="1"/>
                <c:pt idx="0">
                  <c:v>Umbral de atípico ($3.975.000)</c:v>
                </c:pt>
              </c:strCache>
            </c:strRef>
          </c:tx>
          <c:spPr>
            <a:ln w="19050">
              <a:solidFill>
                <a:srgbClr val="1B2A4A"/>
              </a:solidFill>
              <a:prstDash val="dash"/>
            </a:ln>
          </c:spPr>
          <c:marker>
            <c:symbol val="none"/>
          </c:marker>
          <c:xVal>
            <c:numRef>
              <c:f>Sheet1!$A$476:$A$477</c:f>
              <c:numCache>
                <c:formatCode>General</c:formatCode>
                <c:ptCount val="2"/>
                <c:pt idx="0">
                  <c:v>1</c:v>
                </c:pt>
                <c:pt idx="1">
                  <c:v>14</c:v>
                </c:pt>
              </c:numCache>
            </c:numRef>
          </c:xVal>
          <c:yVal>
            <c:numRef>
              <c:f>Sheet1!$B$476:$B$477</c:f>
              <c:numCache>
                <c:formatCode>General</c:formatCode>
                <c:ptCount val="2"/>
                <c:pt idx="0">
                  <c:v>3975000</c:v>
                </c:pt>
                <c:pt idx="1">
                  <c:v>3975000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4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6B7280"/>
                    </a:solidFill>
                    <a:latin typeface="Calibri"/>
                  </a:rPr>
                  <a:t>Duración total (semestres)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6000000.0"/>
          <c:min val="0.0"/>
        </c:scaling>
        <c:delete val="0"/>
        <c:axPos val="l"/>
        <c:majorGridlines>
          <c:spPr>
            <a:ln>
              <a:solidFill>
                <a:srgbClr val="E4DE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6B7280"/>
                    </a:solidFill>
                    <a:latin typeface="Calibri"/>
                  </a:rPr>
                  <a:t>Arancel anual</a:t>
                </a:r>
              </a:p>
            </c:rich>
          </c:tx>
          <c:layout/>
          <c:overlay val="0"/>
        </c:title>
        <c:numFmt formatCode="&quot;$&quot;#,##0.0,,&quot;M&quot;" sourceLinked="0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28940872"/>
        <c:crosses val="autoZero"/>
        <c:crossBetween val="midCat"/>
        <c:majorUnit val="1000000.0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023360"/>
            <a:ext cx="4754880" cy="475488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4709160"/>
            <a:ext cx="3474720" cy="3474720"/>
          </a:xfrm>
          <a:prstGeom prst="ellipse">
            <a:avLst/>
          </a:prstGeom>
          <a:solidFill>
            <a:srgbClr val="8C3B2B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78440" y="5257800"/>
            <a:ext cx="2377440" cy="2377440"/>
          </a:xfrm>
          <a:prstGeom prst="ellipse">
            <a:avLst/>
          </a:prstGeom>
          <a:solidFill>
            <a:srgbClr val="D89B46">
              <a:alpha val="55000"/>
            </a:srgbClr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Matrículas de Educación Superior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Región de Antofagasta, 2021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tablas de frecuencia, gráficos, medidas de tendencia central, percentiles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dispersión de la base de matrículas regional.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257800"/>
            <a:ext cx="2926080" cy="0"/>
          </a:xfrm>
          <a:prstGeom prst="line">
            <a:avLst/>
          </a:prstGeom>
          <a:noFill/>
          <a:ln w="25400">
            <a:solidFill>
              <a:srgbClr val="B051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5440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Boris Astudillo · Salvador Hurtado · Dennis Ponce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1 — Estadística Descriptiva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CASO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y el objetivo del análisis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555955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555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dispone de una base de datos correspondiente a las matrículas de Educación Superior de la Región de Antofagasta durante el año 2021.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contiene información sobre género, edad, instituciones, carreras, áreas de conocimiento, duración de las carreras y valores de matrícula y arancel.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92240" y="1828800"/>
            <a:ext cx="855878" cy="292608"/>
          </a:xfrm>
          <a:prstGeom prst="roundRect">
            <a:avLst>
              <a:gd name="adj" fmla="val 50000"/>
            </a:avLst>
          </a:prstGeom>
          <a:solidFill>
            <a:srgbClr val="B0512E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92240" y="1828800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el conjunto de datos mediante: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889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frecuencia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estadísticos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tendencia central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dispersión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6177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…interpretando los resultados dentro del contexto de los datos, y respondiendo tres preguntas relacionadas con aranceles, edad y tipo de institución.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COMPRENDER LOS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Población, muestra y dimensión de la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Población: matrículas de Educación Superior de la Región de Antofagasta correspondientes al año 2021. Muestra: registros de matrícula contenidos en la base de datos proporcionada para el análisis.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2734056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05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31.595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3872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matrícula (muestra)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6060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20440" y="2734056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53872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totales en la 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6060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55080" y="2734056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9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53872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seleccionadas para el análisis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26060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189720" y="2734056"/>
            <a:ext cx="2331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53872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cuantitativas analizadas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está compuesta por 31.595 registros y 28 variables. La información permite analizar características de las matrículas, instituciones, carreras, duración y valores económicos.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COMPRENDER LOS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seleccionadas y plan de análisis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4206240"/>
        </p:xfrm>
        <a:graphic>
          <a:graphicData uri="http://schemas.openxmlformats.org/drawingml/2006/table">
            <a:tbl>
              <a:tblPr/>
              <a:tblGrid>
                <a:gridCol w="4297680"/>
                <a:gridCol w="265176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Clasificación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</a:rPr>
                        <a:t>GENERO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</a:rPr>
                        <a:t>Cualitativa nominal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</a:rPr>
                        <a:t>TIPO DE INSTITUCION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</a:rPr>
                        <a:t>Cualitativa nominal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</a:rPr>
                        <a:t>AREA CONOCIMIENTO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</a:rPr>
                        <a:t>Cualitativa nominal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</a:rPr>
                        <a:t>EDAD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</a:rPr>
                        <a:t>Cuantitativa continua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</a:rPr>
                        <a:t>VALOR MATRICULA (PESOS)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</a:rPr>
                        <a:t>Cuantitativa continua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</a:rPr>
                        <a:t>VALOR ARANCEL (PESOS)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</a:rPr>
                        <a:t>Cuantitativa continua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</a:rPr>
                        <a:t>DURACION TOTAL CARRERA (SEMESTRES)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</a:rPr>
                        <a:t>Cuantitativa discreta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análisis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86000"/>
            <a:ext cx="3291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Cualitativas: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frecuencia y gráficos.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Cuantitativas: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por intervalos, tendencia central, percentiles y dispersión.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investigación: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las variables de la base para responder tres preguntas sobre aranceles, edad e instituciones.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COMPRENDER LOS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datos y unidad de análisis</a:t>
            </a: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Hallazgo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 y decisión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24272E"/>
                          </a:solidFill>
                        </a:rPr>
                        <a:t>13.466 filas iguales salvo el 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3E5C76"/>
                          </a:solidFill>
                        </a:rPr>
                        <a:t>Estudiantes distintos con igual perfil → no se elimina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24272E"/>
                          </a:solidFill>
                        </a:rPr>
                        <a:t>2.355 nulos en acreditación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3E5C76"/>
                          </a:solidFill>
                        </a:rPr>
                        <a:t>Nulo estructural (instituciones no acreditadas) → no se imputa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24272E"/>
                          </a:solidFill>
                        </a:rPr>
                        <a:t>Espacios al final en RANGO EDAD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3E5C76"/>
                          </a:solidFill>
                        </a:rPr>
                        <a:t>Error de formato → se limpian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24272E"/>
                          </a:solidFill>
                        </a:rPr>
                        <a:t>Plan + titulación ≠ duración total (57,5%)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0" dirty="0">
                          <a:solidFill>
                            <a:srgbClr val="3E5C76"/>
                          </a:solidFill>
                        </a:rPr>
                        <a:t>Convención de registro documentada → se usa la duración total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24272E"/>
                          </a:solidFill>
                        </a:rPr>
                        <a:t>Magíster $8,9 M · matrícula $0 · edades hasta 72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0" dirty="0">
                          <a:solidFill>
                            <a:srgbClr val="3E5C76"/>
                          </a:solidFill>
                        </a:rPr>
                        <a:t>Atípicos reales → se mantienen y se interpretan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24272E"/>
                          </a:solidFill>
                        </a:rPr>
                        <a:t>504 registros de postgrado y postítulo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0" dirty="0">
                          <a:solidFill>
                            <a:srgbClr val="3E5C76"/>
                          </a:solidFill>
                        </a:rPr>
                        <a:t>Preguntas de investigación solo con pregrado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b="0">
                          <a:solidFill>
                            <a:srgbClr val="24272E"/>
                          </a:solidFill>
                        </a:rPr>
                        <a:t>Mismo nombre de carrera en varias instituciones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0" dirty="0">
                          <a:solidFill>
                            <a:srgbClr val="3E5C76"/>
                          </a:solidFill>
                        </a:rPr>
                        <a:t>Carrera = programa (institución + sede + jornada)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de análisis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092440" y="2286000"/>
            <a:ext cx="3291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r>
              <a:rPr lang="en-US" sz="12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define el sujeto de la pregunta.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50" b="1" dirty="0">
              <a:solidFill>
                <a:srgbClr val="D89B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sobre carreras (P1 y P3): </a:t>
            </a:r>
            <a:r>
              <a:rPr lang="en-US" sz="12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carrera pesa igual. 466 carreras (programas) de pregrado.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50" b="1" dirty="0">
              <a:solidFill>
                <a:srgbClr val="D89B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sobre estudiantes (P2): </a:t>
            </a:r>
            <a:r>
              <a:rPr lang="en-US" sz="12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matriculado pesa igual.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50" b="1" dirty="0">
              <a:solidFill>
                <a:srgbClr val="D89B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1: </a:t>
            </a:r>
            <a:r>
              <a:rPr lang="en-US" sz="12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describe la base completa por matriculado, porque la consigna pide describir el conjunto de datos.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GENERAL · VARIABLE CUALITATIVA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Género de los matriculados</a:t>
            </a:r>
            <a:endParaRPr lang="en-US" sz="3000" dirty="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48640" y="1554480"/>
          <a:ext cx="6035040" cy="41148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54480"/>
            <a:ext cx="4754880" cy="1051560"/>
          </a:xfrm>
          <a:prstGeom prst="roundRect">
            <a:avLst>
              <a:gd name="adj" fmla="val 7826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995160" y="1682496"/>
            <a:ext cx="44805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05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50,9%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185416"/>
            <a:ext cx="448056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Femenino · 16.088 registros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2743200"/>
            <a:ext cx="4754880" cy="1051560"/>
          </a:xfrm>
          <a:prstGeom prst="roundRect">
            <a:avLst>
              <a:gd name="adj" fmla="val 7826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995160" y="2871216"/>
            <a:ext cx="44805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49,1%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374136"/>
            <a:ext cx="448056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Masculino · 15.507 registros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393192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86600" y="4096512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 es cualitativa nominal con solo 2 categorías y lo que interesa es qué parte del total representa cada una: por eso se usa un gráfico de torta. La distribución es prácticamente equilibrada entre mujeres y hombres.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GENERAL · VARIABLE CUALITATIVA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institución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54480"/>
          <a:ext cx="5440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 de institución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Registros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Universidades CRUCH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12.769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C3B2B"/>
                          </a:solidFill>
                        </a:rPr>
                        <a:t>40,4%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Institutos Profesionales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10.073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C3B2B"/>
                          </a:solidFill>
                        </a:rPr>
                        <a:t>31,9%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Universidades Privadas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4.547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C3B2B"/>
                          </a:solidFill>
                        </a:rPr>
                        <a:t>14,4%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Centros de Formación Técnica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</a:rPr>
                        <a:t>4.206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C3B2B"/>
                          </a:solidFill>
                        </a:rPr>
                        <a:t>13,3%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172200" y="470916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640080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cualitativa nominal. El mayor número de registros corresponde a las Universidades CRUCH, seguidas por los Institutos Profesionales.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GENERAL · VARIABLE CUALITATIVA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de conocimiento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11247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4068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el 36,7% de los registros (11.586). Administración y Comercio (17,9%) y Salud (17,8%) le siguen con cantidades similares entre sí, muy por debajo del área líder.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CUANTITATIVAS · EDAD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 de los matriculados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continua en 12 intervalos de 5 años con límites enteros ([15, 20), [20, 25), …), coherentes con RANGO EDAD. Histograma: barras contiguas.</a:t>
            </a:r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49808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05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25,4 años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55548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969264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años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6092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49808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9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años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55548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69264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49808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– 28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P25–P75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55548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69264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26,9%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69264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de variación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CUANTITATIVAS · VALOR MATRÍCULA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de matrícula (pesos)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continua en 8 intervalos de $35.625. El primer tramo son 361 registros con matrícula $0 (CFT estatal, IP IPG y diplomados): ausencia de cobro, no un error.</a:t>
            </a:r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49808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05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$160.869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55548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969264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$165.000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6092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49808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9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$165.000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55548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69264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$46.332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49808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$142k – $190k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P25–P75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55548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69264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28,8%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69264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de variación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CUANTITATIVAS · VALOR ARANCEL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de arancel (pesos)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continua en intervalos de $1 millón. Los tramos de $6 M a $8 M están vacíos: el magíster de $8,9 M (UCN) es un atípico real. Por carrera, el promedio es $2.365.188.</a:t>
            </a:r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49808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05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$2.767.302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55548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969264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$2.318.000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6092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49808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9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$3.676.000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55548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69264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$1.007.137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49808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$1,89M – $3,68M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P25–P75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55548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69264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36,4%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69264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de variación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CUANTITATIVAS · DURACIÓN CARRERA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Duración total de la carrera (semestres)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discreta (valores enteros): frecuencia por valor y barras separadas, sin intervalos. Distribución bimodal: carreras técnicas (4–5 sem.) y profesionales (8–10 sem.).</a:t>
            </a:r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49808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05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 sem.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555480" y="18745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9692640" y="20025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sem.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6206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6092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49808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9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sem.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555480" y="32461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692640" y="33741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2,48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39922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49808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– 10 sem.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P25–P75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555480" y="4617720"/>
            <a:ext cx="2057400" cy="1243584"/>
          </a:xfrm>
          <a:prstGeom prst="roundRect">
            <a:avLst>
              <a:gd name="adj" fmla="val 6618"/>
            </a:avLst>
          </a:prstGeom>
          <a:solidFill>
            <a:srgbClr val="F7F4F0"/>
          </a:solidFill>
          <a:ln w="9525">
            <a:solidFill>
              <a:srgbClr val="E4DE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692640" y="4745736"/>
            <a:ext cx="178308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31,6%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692640" y="5363870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de variación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PREGUNTAS DE INVESTIGACIÓN · PREGUNTA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¿Hay áreas donde las carreras son más caras?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las áreas se forman con carreras, así que cada carrera pesa igual (carrera = programa de pregrado: institución + nombre + sede + jornada). Se compara el promedio de las carreras de cada área con el promedio de las 466 carreras.</a:t>
            </a:r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4884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general de las carreras (pregrado): $2.317.441</a:t>
            </a:r>
          </a:p>
        </p:txBody>
      </p:sp>
      <p:sp>
        <p:nvSpPr>
          <p:cNvPr id="7" name="Shape 4"/>
          <p:cNvSpPr/>
          <p:nvPr/>
        </p:nvSpPr>
        <p:spPr>
          <a:xfrm>
            <a:off x="8092440" y="2148840"/>
            <a:ext cx="3566160" cy="3977640"/>
          </a:xfrm>
          <a:prstGeom prst="roundRect">
            <a:avLst>
              <a:gd name="adj" fmla="val 2564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3210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el promedio (por carrera)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8321040" y="28346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 Básicas — $3.289.947 (+42%)</a:t>
            </a:r>
          </a:p>
          <a:p>
            <a:pPr marL="177800" indent="-1778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— $2.942.766 (+27%)</a:t>
            </a:r>
          </a:p>
          <a:p>
            <a:pPr marL="177800" indent="-1778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— $2.722.862 (+17%)</a:t>
            </a:r>
          </a:p>
          <a:p>
            <a:pPr marL="177800" indent="-177800">
              <a:lnSpc>
                <a:spcPct val="13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— $2.354.266 (+1,6%)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8321040" y="41605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matriculado, Tecnología quedaba 2,7% bajo el promedio; por carrera queda 1,6% sobre él.</a:t>
            </a:r>
          </a:p>
          <a:p>
            <a:pPr indent="0" marL="0">
              <a:lnSpc>
                <a:spcPct val="125000"/>
              </a:lnSpc>
              <a:buNone/>
            </a:pPr>
            <a:endParaRPr lang="en-US" sz="1100" i="1" dirty="0">
              <a:solidFill>
                <a:srgbClr val="D89B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robusta: C. Básicas, Derecho y Salud superan el promedio con cualquier criterio. Tecnología y Arte y Arq. están en torno al promedio.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PREGUNTAS DE INVESTIGACIÓN · PREGUNTA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¿Influye la edad en el tipo de institución elegida?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la pregunta es sobre estudiantes, así que la unidad es el matriculado. Para medir la edad al INGRESAR se usan los 9.393 estudiantes de pregrado que ingresaron en 2021. Análisis descriptivo: asociación, no causalidad.</a:t>
            </a:r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48840"/>
          <a:ext cx="74980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21488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458200" y="237744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CRUCH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19 años al ingresar; solo el 16,8% ingresa con 25 años o más.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00" b="1" dirty="0">
              <a:solidFill>
                <a:srgbClr val="8C3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Privadas e IP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la mitad ingresa con 25 años o más (47,5% y 42,5%).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00" b="1" dirty="0">
              <a:solidFill>
                <a:srgbClr val="8C3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/ después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edad actual de todos los matriculados, la brecha CRUCH–Privadas era de 3,2 años; con la edad al ingresar es de 5,1 años.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PREGUNTAS DE INVESTIGACIÓN · PREGUNTA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Carreras con arancel sustancialmente más alto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cada carrera de pregrado pesa igual. Una carrera es sustancialmente más cara si supera el umbral de valor atípico: P75 + 1,5·RIC = $2.658.000 + 1,5 × $878.000 = $3.975.000.</a:t>
            </a: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949440" cy="2432304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64592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 (institución)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Arancel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Medicina (UA)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$5.774.000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Odontología (UA)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$5.626.000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Odontología (U. del Alba)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$4.970.000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Ing. Civil Metalúrgica (UCN)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$4.356.639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Ing. Civil de Minas (UCN)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$4.342.071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Geología (UCN)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5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Básicas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C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$4.283.889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057400"/>
            <a:ext cx="3794760" cy="4160520"/>
          </a:xfrm>
          <a:prstGeom prst="roundRect">
            <a:avLst>
              <a:gd name="adj" fmla="val 2410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09244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las explica?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8092440" y="27432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 b="1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</a:t>
            </a:r>
            <a:r>
              <a:rPr lang="en-US" sz="12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arancel–duración r = 0,69. El arancel es anual: las carreras largas cobran más cada año.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00" dirty="0" b="1">
              <a:solidFill>
                <a:srgbClr val="D89B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 b="1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Institución: </a:t>
            </a:r>
            <a:r>
              <a:rPr lang="en-US" sz="12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las 14 son de universidades CRUCH (11 de la UCN).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00" dirty="0" b="1">
              <a:solidFill>
                <a:srgbClr val="D89B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 b="1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Región: </a:t>
            </a:r>
            <a:r>
              <a:rPr lang="en-US" sz="12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están ligadas a la minería e industria extractiva, sector predominante en la economía regional. Relación descriptiva, no causal.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8092440" y="5532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Gobierno Regional de Antofagasta, Política Regional de Integración e Internacionalización 2024-2033.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6949440" cy="1508760"/>
          </a:xfrm>
          <a:prstGeom prst="roundRect">
            <a:avLst>
              <a:gd name="adj" fmla="val 6061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4892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carreras </a:t>
            </a: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 el umbral. Además de las 6 de la tabla, 8 son de la UCN: Ing. Civil Industrial, Derecho, Ing. Civil, Ing. Comercial, Ing. Civil Química, Ing. Civil en Computación, Arquitectura e Ing. Civil Ambiental. Todas duran 10 semestres o más.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PREGUNTAS DE INVESTIGACIÓN · PREGUNTA 3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explica los aranceles altos?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2148840"/>
          <a:ext cx="7498079" cy="40690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es una carrera de pregrado (466). Para relacionar dos variables numéricas —duración y arancel— se usa un diagrama de dispersión; el color indica el tipo de institución.</a:t>
            </a:r>
          </a:p>
        </p:txBody>
      </p:sp>
      <p:sp>
        <p:nvSpPr>
          <p:cNvPr id="6" name="Shape 3"/>
          <p:cNvSpPr/>
          <p:nvPr/>
        </p:nvSpPr>
        <p:spPr>
          <a:xfrm>
            <a:off x="8229600" y="214884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4F0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458200" y="237744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positiva fuerte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0,69: a mayor duración, mayor arancel anual.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00" b="1" dirty="0">
              <a:solidFill>
                <a:srgbClr val="8C3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sobre el umbral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de 10 o más semestres, casi todas de universidades CRUCH (11 de la UCN).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00" b="1" dirty="0">
              <a:solidFill>
                <a:srgbClr val="8C3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e IP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 de 4 a 8 semestres y el 99,6% cuesta menos de $2,5 M. A igual duración, un IP cobra menos que una universidad.</a:t>
            </a:r>
          </a:p>
          <a:p>
            <a:pPr indent="0" marL="0">
              <a:lnSpc>
                <a:spcPct val="130000"/>
              </a:lnSpc>
              <a:buNone/>
            </a:pPr>
            <a:endParaRPr lang="en-US" sz="1200" b="1" dirty="0">
              <a:solidFill>
                <a:srgbClr val="8C3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C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no implica causalidad.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Educación Superior · Región de Antofagasta 2021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548640" y="-822960"/>
            <a:ext cx="2377440" cy="2377440"/>
          </a:xfrm>
          <a:prstGeom prst="ellipse">
            <a:avLst/>
          </a:prstGeom>
          <a:solidFill>
            <a:srgbClr val="8C3B2B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9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CONCLUSIONES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hallazgos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auditada: 31.595 registros sin duplicados, nulos estructurales y atípicos reales; no se eliminaron datos.</a:t>
            </a:r>
          </a:p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equilibrado: 50,9% femenino y 49,1% masculino.</a:t>
            </a:r>
          </a:p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concentra el 36,7% de los matriculados; las U. CRUCH, el 40,4%.</a:t>
            </a:r>
          </a:p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asimétrica positiva: la mediana (23 años) representa mejor que el promedio (25,4).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309360" y="19202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Arancel: $2.767.302 por matriculado, pero $2.365.188 por carrera.</a:t>
            </a:r>
          </a:p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carrera, C. Básicas, Derecho y Salud son las áreas más caras con cualquier criterio.</a:t>
            </a:r>
          </a:p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U. CRUCH reciben a los estudiantes más jóvenes al ingresar (mediana 19 vs 22–24 años).</a:t>
            </a:r>
          </a:p>
          <a:p>
            <a:pPr marL="203200" indent="-2032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carreras son sustancialmente más caras: largas, de U. CRUCH (11 de la UCN) y varias ligadas a la minería.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3547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análisis la define el sujeto de la pregunta. El análisis es descriptivo: identifica asociaciones, no causas.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2026-09-22T00:34:45Z</dcterms:created>
  <dcterms:modified xsi:type="dcterms:W3CDTF">2026-09-22T00:34:45Z</dcterms:modified>
</cp:coreProperties>
</file>